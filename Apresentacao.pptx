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999" r:id="rId6"/>
    <p:sldId id="28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1000" r:id="rIdPipeline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Pipeline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Abertura. Apresente o tema e pergunte quem já criou uma aplicação. Esta palestra dura aproximadamente 45 a 50 minutos, incluindo demonstrações.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  <a:p>
            <a:r>
              <a:t>Ilustração conceitual criada com IA para representar ciclo contínuo ou empacotamento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Apresentação pessoal, 45 a 60 segundos. Sugestão: Olá, eu sou [nome], trabalho com [área] e tenho experiência em [tema]. Preparei esta conversa para mostrar como uma alteração chega à aplicação em execução. Conte um exemplo curto de sua trajetória que tenha relação com os alunos. Para personalizar, substitua os textos entre colchetes. Remova o retângulo e os textos SUA FOTO e Retrato vertical e insira sua foto nesse espaço, usando Recortar &gt; Preencher e mantendo a proporção do retrato.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Introdução, cerca de 2 minutos. Pergunte quem já ouviu a frase. Explique que uma aplicação precisa funcionar após cada alteração e em seu ambiente de execução.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DevOps aproxima desenvolvimento e operações, com responsabilidade compartilhada pelo software em funcionamento. Automação apoia essa colaboração. Não reduza o conceito a uma ferramenta ou cargo. Fonte: https://aws.amazon.com/devops/what-is-devops/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Plataformas que apoiam as práticas de DevOps, reunindo colaboração no código e automação. Azure DevOps é o conjunto de ferramentas da Microsoft apresentado aqui.</a:t>
            </a:r>
          </a:p>
          <a:p>
            <a:r>
              <a:t>Fontes:</a:t>
            </a:r>
          </a:p>
          <a:p>
            <a:r>
              <a:t>https://learn.microsoft.com/en-us/azure/devops/user-guide/what-is-azure-devops?view=azure-devops</a:t>
            </a:r>
          </a:p>
          <a:p>
            <a:r>
              <a:t>https://docs.gitlab.com/tutorials/</a:t>
            </a:r>
          </a:p>
          <a:p>
            <a:r>
              <a:t>https://docs.gitlab.com/ci/pipelines/</a:t>
            </a:r>
          </a:p>
          <a:p>
            <a:r>
              <a:t>https://docs.github.com/en/actions/get-started/understand-github-actions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Visão geral. Apresente a sequência antes de aprofundar as ferramentas. O CI roda no GitHub, enquanto a publicação desta palestra ocorre no computador Windows.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a API como exemplo didático. Defina REST sem aprofundar arquitetura. Cliente faz uma requisição HTTP e recebe uma resposta, aqui em JSON.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id, title e completed. JavaScript com Fastify e armazenamento em memória mantêm o exemplo simples. Não há banco externo. Reiniciar a aplicação apaga as tarefas.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Pausa para demonstração, 4 minutos. baseUrl=http://localhost:3000. Execute saúde, criação, lista, consulta, atualização e exclusão. A collection salva taskId ao criar. PUT exige title e completed. Mostre HTTP 200, 201 e 204.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editor, abra app.js, server.js, routes/tasks.js e package.json. Mostre node --version e npm --version. Ambiente solicitado: Node.js 24.19.0 e npm 11.17.0. package-lock.json registra a árvore exata das dependências. Cerca de 3 minutos.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test/tasks.test.js e execute npm test. Há seis testes cobrindo saúde, CRUD e validação. node:test organiza os testes, assert verifica o resultado e Fastify.inject simula requisições sem abrir uma porta. Cerca de 3 minutos.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Git é a ferramenta de controle de versão local. GitHub hospeda repositórios e oferece colaboração e Actions. Mostre os mesmos arquivos no editor e no navegador.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Demonstração, cerca de 2 minutos. Execute git status, git log --oneline -5 e git remote -v. Explique staging com git add, registro com git commit e envio com git push. Estes comandos de commit são exemplos e exigem alterações.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Defina CI como integrar alterações com frequência e verificar automaticamente o projeto. O workflow executa para push na main e pull requests com destino à main. Passar testes não elimina todos os defeitos, mas verifica os comportamentos cobertos. Fonte: https://docs.github.com/en/actions/get-started/understand-github-actions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.github/workflows/ci.yml e uma execução na aba Actions. Explique workflow como processo, job como grupo de etapas e step como comando ou ação. Mostre Checkout, setup-node, npm ci, npm test e docker build. Este slide contém um trecho, não o arquivo completo. Cerca de 3 minutos.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a imagem como pacote de arquivos e dependências, e o contêiner como instância em execução, em processo isolado. Docker usa o kernel do ambiente de execução, não empacota uma máquina completa. Fontes: https://docs.docker.com/get-started/docker-concepts/the-basics/what-is-an-image/ e https://docs.docker.com/get-started/docker-concepts/the-basics/what-is-a-container/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  <a:p>
            <a:r>
              <a:t>Ilustração conceitual criada com IA para representar ciclo contínuo ou empacotamento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o Dockerfile real. Explique também WORKDIR, COPY, USER e ENV. O slide é um recorte. O arquivo usa npm 11.17.0, npm ci --omit=dev, NODE_ENV=production e usuário node. Aqui o build é a imagem Docker, pois o JavaScript não passa por compilação separada.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terminal execute os comandos. Identifique nome, tag da imagem, estado e porta. O CD usa a tag do commit. Porta 127.0.0.1:3000 atende apenas localmente. Evite executar npm start simultaneamente. Cerca de 2 minutos.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deploy como colocar uma versão em execução. Continuous Delivery mantém uma versão pronta e pode ter aprovação humana. Continuous Deployment publica automaticamente após as validações. Neste projeto CD significa Continuous Deployment. Fonte: https://docs.github.com/en/actions/get-started/continuous-deployment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Settings &gt; Actions &gt; Runners. Runner é o programa que recebe e executa os jobs. Nosso runner chama-se etec-fernandopolis-local e usa o rótulo etec-local. Ele roda com o usuário Windows e acesso ao Docker Desktop. O computador precisa estar ligado e conectado. Fonte: https://docs.github.com/en/actions/get-started/understand-github-actions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deploy.yml e scripts/deploy-local.ps1. O workflow_run exige success, push, main e o repositório correto. O checkout usa head_sha do CI. A imagem é reconstruída localmente a partir desse commit. Existe breve indisponibilidade, as tarefas são apagadas e não há rollback automático.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Inicie a demonstração principal, 4 minutos. Confirme git status limpo. Edite apenas src/app.js, preservando o teste. Execute npm test. Após a falha esperada: git add src/app.js; git commit -m "demo: altera resposta de health para demonstrar falha"; git push. Execute os comandos separadamente e acompanhe Actions.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a execução real. O teste falha, o CI não executa o build seguinte e o CD ignora o job de deploy. A versão anterior permanece no contêiner. No Postman, GET /health deve continuar retornando status ok, desde que o ambiente esteja ativo. Não apresente este slide como resultado de execução sem abrir o Actions.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Restaure status ok em app.js e rode npm test. Após passar, faça commit e push. Aguarde CI e CD. Mostre docker ps e o SHA da imagem correspondente ao novo commit. Verifique health no Postman. Reserve 4 a 6 minutos e aproveite a fila para perguntas.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Encerramento. Retome a pergunta inicial: como garantir que uma versão passou pelas validações antes de entrar em execução? Convide perguntas. O repositório é privado, então o endereço exige acesso autorizado. Não prometa acesso público aos alunos.</a:t>
            </a:r>
          </a:p>
          <a:p>
            <a:endParaRPr/>
          </a:p>
          <a:p>
            <a:r>
              <a:t>Base: ROTEIRO-PALESTRA.md e arquivos do projeto devops-tasks-api. Logo fornecida pelo organizador.</a:t>
            </a:r>
          </a:p>
          <a:p>
            <a:r>
              <a:t>Ilustração conceitual criada com IA para representar ciclo contínuo ou empacotamento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39141D4-3290-46F9-9D98-3DEB336F383F}"/>
              </a:ext>
            </a:extLst>
          </p:cNvPr>
          <p:cNvSpPr>
            <a:spLocks noGrp="1"/>
          </p:cNvSpPr>
          <p:nvPr/>
        </p:nvSpPr>
        <p:spPr>
          <a:xfrm>
            <a:off x="571500" y="1266825"/>
            <a:ext cx="6381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 GIT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0E7A6B-DCB5-40D0-AB98-5BF0482ED685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723900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45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AO DEPLOY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4785643-BF13-4164-BC38-44180E125E5A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5715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Entendendo DevOps</a:t>
            </a:r>
          </a:p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 prática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B7E663-4709-430E-9082-8415EA5E7C66}"/>
              </a:ext>
            </a:extLst>
          </p:cNvPr>
          <p:cNvSpPr>
            <a:spLocks noGrp="1"/>
          </p:cNvSpPr>
          <p:nvPr/>
        </p:nvSpPr>
        <p:spPr>
          <a:xfrm>
            <a:off x="619125" y="5276850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ETEC de Fernandópolis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41A263-81EB-4DC9-8BD0-53BD93EFA53A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92461B5-A3FC-4608-9900-CB4520F3ABCD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5E63FD-9AD3-43B1-A068-382861CF863C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TECNOLOGIA EM PRÁTICA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4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7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7AF1F5F-51DC-41F4-A871-7EF2837A3D0F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QUEM VAI CONVERSAR COM VOCÊS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1BCFEB-9B7B-4BBB-9173-8D1B7265C017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85800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51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Igor Queirantes</a:t>
            </a:r>
            <a:endParaRPr sz="51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B06639-D9A2-4B27-859E-BAAFA6F97A73}"/>
              </a:ext>
            </a:extLst>
          </p:cNvPr>
          <p:cNvSpPr>
            <a:spLocks noGrp="1"/>
          </p:cNvSpPr>
          <p:nvPr/>
        </p:nvSpPr>
        <p:spPr>
          <a:xfrm>
            <a:off x="619125" y="2590800"/>
            <a:ext cx="68580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lang="pt-BR" sz="2400" b="1" dirty="0">
                <a:solidFill>
                  <a:srgbClr val="F3293A"/>
                </a:solidFill>
                <a:latin typeface="Arial"/>
                <a:ea typeface="Arial"/>
                <a:cs typeface="Arial"/>
              </a:rPr>
              <a:t>Desenvolvedor </a:t>
            </a:r>
            <a:r>
              <a:rPr lang="pt-BR" sz="2400" b="1" dirty="0" err="1">
                <a:solidFill>
                  <a:srgbClr val="F3293A"/>
                </a:solidFill>
                <a:latin typeface="Arial"/>
                <a:ea typeface="Arial"/>
                <a:cs typeface="Arial"/>
              </a:rPr>
              <a:t>Backend</a:t>
            </a:r>
            <a:endParaRPr sz="2400" b="1" dirty="0">
              <a:solidFill>
                <a:srgbClr val="F329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68BBB23-6298-4512-94EE-1484C488E57B}"/>
              </a:ext>
            </a:extLst>
          </p:cNvPr>
          <p:cNvSpPr>
            <a:spLocks noGrp="1"/>
          </p:cNvSpPr>
          <p:nvPr/>
        </p:nvSpPr>
        <p:spPr>
          <a:xfrm>
            <a:off x="619124" y="3905250"/>
            <a:ext cx="7052691" cy="1266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rgbClr val="F3293A"/>
                </a:solidFill>
                <a:latin typeface="Arial"/>
                <a:ea typeface="Arial"/>
                <a:cs typeface="Arial"/>
              </a:rPr>
              <a:t>2019</a:t>
            </a:r>
            <a:r>
              <a:rPr lang="pt-BR" sz="2175" b="0" dirty="0">
                <a:solidFill>
                  <a:srgbClr val="ADB3BF"/>
                </a:solidFill>
                <a:latin typeface="Arial"/>
                <a:ea typeface="Arial"/>
                <a:cs typeface="Arial"/>
              </a:rPr>
              <a:t> - Informática para Internet – ETEC Fernandópolis</a:t>
            </a:r>
          </a:p>
          <a:p>
            <a:pPr>
              <a:defRPr sz="21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rgbClr val="F3293A"/>
                </a:solidFill>
                <a:latin typeface="Arial"/>
                <a:ea typeface="Arial"/>
                <a:cs typeface="Arial"/>
              </a:rPr>
              <a:t>2026</a:t>
            </a:r>
            <a:r>
              <a:rPr lang="pt-BR" sz="2175" b="0" dirty="0">
                <a:solidFill>
                  <a:srgbClr val="ADB3BF"/>
                </a:solidFill>
                <a:latin typeface="Arial"/>
                <a:ea typeface="Arial"/>
                <a:cs typeface="Arial"/>
              </a:rPr>
              <a:t> - Sistemas para Internet – Fatec Jales</a:t>
            </a:r>
          </a:p>
          <a:p>
            <a:pPr algn="l">
              <a:defRPr sz="21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endParaRPr lang="pt-BR" sz="2175" b="0" dirty="0">
              <a:solidFill>
                <a:srgbClr val="ADB3B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BB361F-EC8E-4030-AFF4-AF7BA81E99CC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EE86E1-0C6C-4FA2-BCD4-927B81C33742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BF3DC1-BFD7-4223-97C0-2B9B740788D7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APRESENTAÇÃO PESSOAL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C526DCD-64F0-8619-077E-A3572032D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133" y="957263"/>
            <a:ext cx="3478742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1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CDFF3F0-1857-4EF9-A5F2-9648D06352FD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334250" cy="3495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“Na minha</a:t>
            </a:r>
          </a:p>
          <a:p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máquina</a:t>
            </a:r>
          </a:p>
          <a:p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funciona.”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A358C1-DDDA-4C5F-99AB-99267CD04BE0}"/>
              </a:ext>
            </a:extLst>
          </p:cNvPr>
          <p:cNvSpPr>
            <a:spLocks noGrp="1"/>
          </p:cNvSpPr>
          <p:nvPr/>
        </p:nvSpPr>
        <p:spPr>
          <a:xfrm>
            <a:off x="8039100" y="2619375"/>
            <a:ext cx="3486150" cy="1638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E depois</a:t>
            </a:r>
          </a:p>
          <a:p>
            <a:pPr algn="l">
              <a:defRPr sz="39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do deploy?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04A421-BA71-4626-BF65-2F8316A4EB1D}"/>
              </a:ext>
            </a:extLst>
          </p:cNvPr>
          <p:cNvSpPr>
            <a:spLocks noGrp="1"/>
          </p:cNvSpPr>
          <p:nvPr/>
        </p:nvSpPr>
        <p:spPr>
          <a:xfrm>
            <a:off x="619125" y="5143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Como saber qual versão está rodando e quem a validou?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478381-85FF-400F-9C50-9CCF8E77602A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19A952-8391-43DC-AD21-B48D28AF08FC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66A3045-1D6B-4D84-9850-B233D1147227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1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AC4E124-E31A-480C-BBE8-28E58008636C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C737ED-C0F5-4446-A312-F9C22FB5BB9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é DevOps?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0C0CF9B-B564-49DC-A4B4-06D43668BEBC}"/>
              </a:ext>
            </a:extLst>
          </p:cNvPr>
          <p:cNvSpPr>
            <a:spLocks noGrp="1"/>
          </p:cNvSpPr>
          <p:nvPr/>
        </p:nvSpPr>
        <p:spPr>
          <a:xfrm>
            <a:off x="590550" y="2133600"/>
            <a:ext cx="3762375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7FC42B6-545D-4D5E-866C-CEC8D74FA39A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11430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25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FD6B1F-2BD4-4DBA-B5A6-03F7F3B1C115}"/>
              </a:ext>
            </a:extLst>
          </p:cNvPr>
          <p:cNvSpPr>
            <a:spLocks noGrp="1"/>
          </p:cNvSpPr>
          <p:nvPr/>
        </p:nvSpPr>
        <p:spPr>
          <a:xfrm>
            <a:off x="5943600" y="2133600"/>
            <a:ext cx="37147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AC46CC-8363-40DD-8A55-D865A4A63C16}"/>
              </a:ext>
            </a:extLst>
          </p:cNvPr>
          <p:cNvSpPr>
            <a:spLocks noGrp="1"/>
          </p:cNvSpPr>
          <p:nvPr/>
        </p:nvSpPr>
        <p:spPr>
          <a:xfrm>
            <a:off x="666750" y="3343275"/>
            <a:ext cx="4191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Desenvolvimento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47420BF-7893-4492-B9E8-16D7F1715F07}"/>
              </a:ext>
            </a:extLst>
          </p:cNvPr>
          <p:cNvSpPr>
            <a:spLocks noGrp="1"/>
          </p:cNvSpPr>
          <p:nvPr/>
        </p:nvSpPr>
        <p:spPr>
          <a:xfrm>
            <a:off x="6019800" y="3343275"/>
            <a:ext cx="4572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Operações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C8956F-6854-4680-A2D4-00F202EBB8ED}"/>
              </a:ext>
            </a:extLst>
          </p:cNvPr>
          <p:cNvSpPr>
            <a:spLocks noGrp="1"/>
          </p:cNvSpPr>
          <p:nvPr/>
        </p:nvSpPr>
        <p:spPr>
          <a:xfrm>
            <a:off x="628650" y="4400550"/>
            <a:ext cx="10906125" cy="1085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Responsabilidade compartilhada pelo software</a:t>
            </a:r>
          </a:p>
          <a:p>
            <a:pPr algn="l">
              <a:defRPr sz="27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 as pessoas usam.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D5E0C8-7F29-4A36-9B07-82E673522EEF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3FF46C1-86B6-40D6-98BA-F1A95CFE5C26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E5AE887-DA20-40E7-888A-D5EF6C6AE7D9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CULTURA ANTES DAS FERRAMENTAS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2">
            <a:extLst>
              <a:ext uri="{FF2B5EF4-FFF2-40B4-BE49-F238E27FC236}">
                <a16:creationId xmlns:a16="http://schemas.microsoft.com/office/drawing/2014/main" id="{AAC4E124-E31A-480C-BBE8-28E58008636C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3" name="Retângulo 8">
            <a:extLst>
              <a:ext uri="{FF2B5EF4-FFF2-40B4-BE49-F238E27FC236}">
                <a16:creationId xmlns:a16="http://schemas.microsoft.com/office/drawing/2014/main" id="{2CD5E0C8-7F29-4A36-9B07-82E673522EEF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Retângulo 9">
            <a:extLst>
              <a:ext uri="{FF2B5EF4-FFF2-40B4-BE49-F238E27FC236}">
                <a16:creationId xmlns:a16="http://schemas.microsoft.com/office/drawing/2014/main" id="{A3FF46C1-86B6-40D6-98BA-F1A95CFE5C26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tângulo 10">
            <a:extLst>
              <a:ext uri="{FF2B5EF4-FFF2-40B4-BE49-F238E27FC236}">
                <a16:creationId xmlns:a16="http://schemas.microsoft.com/office/drawing/2014/main" id="{BE5AE887-DA20-40E7-888A-D5EF6C6AE7D9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PLATAFORMAS PARA COLABORAÇÃO E AUTOMAÇÃO</a:t>
            </a:r>
          </a:p>
        </p:txBody>
      </p:sp>
      <p:pic>
        <p:nvPicPr>
          <p:cNvPr id="6" name="Imagem 2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F2D671E-DA52-4594-BFAD-63ECD6208ED2}"/>
              </a:ext>
            </a:extLst>
          </p:cNvPr>
          <p:cNvSpPr>
            <a:spLocks noGrp="1"/>
          </p:cNvSpPr>
          <p:nvPr/>
        </p:nvSpPr>
        <p:spPr>
          <a:xfrm>
            <a:off x="647700" y="942975"/>
            <a:ext cx="109537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Principais plataformas de DevOps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E2AD28D-91CA-4838-B5B6-578B06AB3486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3667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Azure DevOps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39D223B-28B4-4B23-B04A-09BF6F70837B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Azure Repos e Boards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C2D673B-9F8E-4065-8A95-584D820F36E1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36671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Código e planejamento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E93606D-F0F4-4995-AA76-5A90A5DCC626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Azure Pipelines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791A58-91F5-459A-9380-933D2F6D38AD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476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Automação de testes e deploy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8631B72-4A38-48C7-87CD-151111AEE560}"/>
              </a:ext>
            </a:extLst>
          </p:cNvPr>
          <p:cNvSpPr>
            <a:spLocks noGrp="1"/>
          </p:cNvSpPr>
          <p:nvPr/>
        </p:nvSpPr>
        <p:spPr>
          <a:xfrm>
            <a:off x="4495800" y="2152650"/>
            <a:ext cx="3667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GitLab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ABD4CE3-FD57-4865-9B1F-93BD90E1C45D}"/>
              </a:ext>
            </a:extLst>
          </p:cNvPr>
          <p:cNvSpPr>
            <a:spLocks noGrp="1"/>
          </p:cNvSpPr>
          <p:nvPr/>
        </p:nvSpPr>
        <p:spPr>
          <a:xfrm>
            <a:off x="4495800" y="2914650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Repositórios e issues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53FC030-485E-4F83-A463-E116A132EA97}"/>
              </a:ext>
            </a:extLst>
          </p:cNvPr>
          <p:cNvSpPr>
            <a:spLocks noGrp="1"/>
          </p:cNvSpPr>
          <p:nvPr/>
        </p:nvSpPr>
        <p:spPr>
          <a:xfrm>
            <a:off x="4495800" y="3343275"/>
            <a:ext cx="36671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Código e acompanhamento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5B428E9-63D7-426C-B70D-D5D4E0D48244}"/>
              </a:ext>
            </a:extLst>
          </p:cNvPr>
          <p:cNvSpPr>
            <a:spLocks noGrp="1"/>
          </p:cNvSpPr>
          <p:nvPr/>
        </p:nvSpPr>
        <p:spPr>
          <a:xfrm>
            <a:off x="4495800" y="3990975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GitLab CI/CD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42EE6A0-DC31-44CB-884E-887C568B53BF}"/>
              </a:ext>
            </a:extLst>
          </p:cNvPr>
          <p:cNvSpPr>
            <a:spLocks noGrp="1"/>
          </p:cNvSpPr>
          <p:nvPr/>
        </p:nvSpPr>
        <p:spPr>
          <a:xfrm>
            <a:off x="4495800" y="4438650"/>
            <a:ext cx="3476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Automação de testes e deploy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635D363-7ACA-4D65-8C89-9921B096CFDA}"/>
              </a:ext>
            </a:extLst>
          </p:cNvPr>
          <p:cNvSpPr>
            <a:spLocks noGrp="1"/>
          </p:cNvSpPr>
          <p:nvPr/>
        </p:nvSpPr>
        <p:spPr>
          <a:xfrm>
            <a:off x="8305800" y="2152650"/>
            <a:ext cx="3667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9935AA5-B831-4140-A78F-A028B3F8938A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Repositórios e pull requests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16ACE38-2FB1-4141-B2EA-E08FD1577221}"/>
              </a:ext>
            </a:extLst>
          </p:cNvPr>
          <p:cNvSpPr>
            <a:spLocks noGrp="1"/>
          </p:cNvSpPr>
          <p:nvPr/>
        </p:nvSpPr>
        <p:spPr>
          <a:xfrm>
            <a:off x="8305800" y="3343275"/>
            <a:ext cx="36671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Código e revisão em equipe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C6D60B7-77AC-48FA-BA72-56F7EDFAD374}"/>
              </a:ext>
            </a:extLst>
          </p:cNvPr>
          <p:cNvSpPr>
            <a:spLocks noGrp="1"/>
          </p:cNvSpPr>
          <p:nvPr/>
        </p:nvSpPr>
        <p:spPr>
          <a:xfrm>
            <a:off x="8305800" y="3990975"/>
            <a:ext cx="3667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69FFB58-27DF-4EA7-8C43-3C2B43B96DC8}"/>
              </a:ext>
            </a:extLst>
          </p:cNvPr>
          <p:cNvSpPr>
            <a:spLocks noGrp="1"/>
          </p:cNvSpPr>
          <p:nvPr/>
        </p:nvSpPr>
        <p:spPr>
          <a:xfrm>
            <a:off x="8305800" y="4438650"/>
            <a:ext cx="3476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Automação de testes e deploy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EC6D0B-DEE1-4B3A-8618-81962DCC2B7D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Nesta demonstração: GitHub + GitHub Actions.</a:t>
            </a:r>
          </a:p>
        </p:txBody>
      </p:sp>
      <p:pic>
        <p:nvPicPr>
          <p:cNvPr id="1026" name="Picture 2" descr="Azure - ícones de formas grátis">
            <a:extLst>
              <a:ext uri="{FF2B5EF4-FFF2-40B4-BE49-F238E27FC236}">
                <a16:creationId xmlns:a16="http://schemas.microsoft.com/office/drawing/2014/main" id="{CA6DBA23-1EFB-30D5-B624-32FAF6DEF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58322"/>
            <a:ext cx="7143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Ícone de Gitlab logo">
            <a:extLst>
              <a:ext uri="{FF2B5EF4-FFF2-40B4-BE49-F238E27FC236}">
                <a16:creationId xmlns:a16="http://schemas.microsoft.com/office/drawing/2014/main" id="{1D842DD4-F7DC-C93B-7B78-5B4E307F7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924" y="2095500"/>
            <a:ext cx="7143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ithub White Icon SVG Vector &amp; PNG Free Download | UXWing">
            <a:extLst>
              <a:ext uri="{FF2B5EF4-FFF2-40B4-BE49-F238E27FC236}">
                <a16:creationId xmlns:a16="http://schemas.microsoft.com/office/drawing/2014/main" id="{4B8784CB-C94D-DCA7-5993-EC59B1A1D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820" y="2033741"/>
            <a:ext cx="757084" cy="75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94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08C0E2FE-A780-40E1-93A2-9757BAD150AF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966F128-5F9A-40AA-928A-73203EB7EA4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O que é CI/CD?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BE8A8A-4B46-4AA7-9062-60C82447D86D}"/>
              </a:ext>
            </a:extLst>
          </p:cNvPr>
          <p:cNvSpPr>
            <a:spLocks noGrp="1"/>
          </p:cNvSpPr>
          <p:nvPr/>
        </p:nvSpPr>
        <p:spPr>
          <a:xfrm>
            <a:off x="590550" y="1990725"/>
            <a:ext cx="1143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E574CAB-C276-4821-B25D-E2FA7D91E8AF}"/>
              </a:ext>
            </a:extLst>
          </p:cNvPr>
          <p:cNvSpPr>
            <a:spLocks noGrp="1"/>
          </p:cNvSpPr>
          <p:nvPr/>
        </p:nvSpPr>
        <p:spPr>
          <a:xfrm>
            <a:off x="590550" y="2676525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Integração contínua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3F0DC1-DC8A-46B5-AF1E-8B67D25397D1}"/>
              </a:ext>
            </a:extLst>
          </p:cNvPr>
          <p:cNvSpPr>
            <a:spLocks noGrp="1"/>
          </p:cNvSpPr>
          <p:nvPr/>
        </p:nvSpPr>
        <p:spPr>
          <a:xfrm>
            <a:off x="590550" y="313372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Continuous Integration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171E34-17D7-41CE-A390-EDEB1E2AB9D7}"/>
              </a:ext>
            </a:extLst>
          </p:cNvPr>
          <p:cNvSpPr>
            <a:spLocks noGrp="1"/>
          </p:cNvSpPr>
          <p:nvPr/>
        </p:nvSpPr>
        <p:spPr>
          <a:xfrm>
            <a:off x="590550" y="3657600"/>
            <a:ext cx="5238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Integra alterações com frequência.</a:t>
            </a:r>
          </a:p>
          <a:p>
            <a:pPr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Testes e build automáticos ajudam</a:t>
            </a:r>
          </a:p>
          <a:p>
            <a:pPr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 encontrar erros cedo.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997B412-02BA-4835-8625-A15F62CBDE2A}"/>
              </a:ext>
            </a:extLst>
          </p:cNvPr>
          <p:cNvSpPr>
            <a:spLocks noGrp="1"/>
          </p:cNvSpPr>
          <p:nvPr/>
        </p:nvSpPr>
        <p:spPr>
          <a:xfrm>
            <a:off x="6486525" y="1990725"/>
            <a:ext cx="1143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CD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65D488-933E-4145-A91B-1CD02A7B748C}"/>
              </a:ext>
            </a:extLst>
          </p:cNvPr>
          <p:cNvSpPr>
            <a:spLocks noGrp="1"/>
          </p:cNvSpPr>
          <p:nvPr/>
        </p:nvSpPr>
        <p:spPr>
          <a:xfrm>
            <a:off x="6486525" y="267652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Entrega ou deploy contínuo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AAC4932-29D5-4F37-A280-CACCCB853E92}"/>
              </a:ext>
            </a:extLst>
          </p:cNvPr>
          <p:cNvSpPr>
            <a:spLocks noGrp="1"/>
          </p:cNvSpPr>
          <p:nvPr/>
        </p:nvSpPr>
        <p:spPr>
          <a:xfrm>
            <a:off x="6486525" y="313372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Continuous Delivery / Deployment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737F996-0F43-4313-9D57-22DFE35972D9}"/>
              </a:ext>
            </a:extLst>
          </p:cNvPr>
          <p:cNvSpPr>
            <a:spLocks noGrp="1"/>
          </p:cNvSpPr>
          <p:nvPr/>
        </p:nvSpPr>
        <p:spPr>
          <a:xfrm>
            <a:off x="6486525" y="3657600"/>
            <a:ext cx="5238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Delivery: versão pronta para publicar,</a:t>
            </a:r>
          </a:p>
          <a:p>
            <a:pPr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com aprovação antes do deploy.</a:t>
            </a:r>
          </a:p>
          <a:p>
            <a:pPr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Deployment: publicação automática.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75A69A-4223-42D6-A6CB-5B2DBD6E0046}"/>
              </a:ext>
            </a:extLst>
          </p:cNvPr>
          <p:cNvSpPr>
            <a:spLocks noGrp="1"/>
          </p:cNvSpPr>
          <p:nvPr/>
        </p:nvSpPr>
        <p:spPr>
          <a:xfrm>
            <a:off x="590550" y="52387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Neste projeto: CI aprovado libera o deploy automático no Docker local.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98859AF-421D-4BDA-A5BA-5ECF47442E51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87F511D-3E31-429A-ABDF-04159294BAFA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F88925E-CB9A-4EEA-B034-4B85BAA5CEC9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VALIDAÇÃO E PUBLICAÇÃO AUTOMÁTICAS</a:t>
            </a:r>
          </a:p>
        </p:txBody>
      </p:sp>
      <p:pic>
        <p:nvPicPr>
          <p:cNvPr id="1000" name="Imagem 23"/>
          <p:cNvPicPr>
            <a:picLocks noChangeAspect="1"/>
          </p:cNvPicPr>
          <p:nvPr/>
        </p:nvPicPr>
        <p:blipFill>
          <a:blip r:embed="rId2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5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9F8758EB-146A-4E97-93EE-C47C5F95AFD2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VISÃO GERAL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63F0C21-CE85-4735-9F79-6DDBCA2A8CE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O caminho de uma alteração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2FDBD5F-7824-4F38-841A-F618D892724B}"/>
              </a:ext>
            </a:extLst>
          </p:cNvPr>
          <p:cNvSpPr>
            <a:spLocks noGrp="1"/>
          </p:cNvSpPr>
          <p:nvPr/>
        </p:nvSpPr>
        <p:spPr>
          <a:xfrm>
            <a:off x="590550" y="2657475"/>
            <a:ext cx="24288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ADF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122F77-A891-408D-B4F6-63A89121F2DE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43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B6E274-C9BA-4F4C-8FC4-405589E3583F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21431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editar e testar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AE864589-7B26-4499-A224-B230ADDC0BCA}"/>
              </a:ext>
            </a:extLst>
          </p:cNvPr>
          <p:cNvSpPr>
            <a:spLocks noGrp="1"/>
          </p:cNvSpPr>
          <p:nvPr/>
        </p:nvSpPr>
        <p:spPr>
          <a:xfrm>
            <a:off x="3105150" y="3171825"/>
            <a:ext cx="266700" cy="161925"/>
          </a:xfrm>
          <a:prstGeom prst="rightArrow">
            <a:avLst/>
          </a:prstGeom>
          <a:solidFill>
            <a:srgbClr val="F3293A"/>
          </a:solidFill>
          <a:ln w="0">
            <a:noFill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E2E8A96-1434-4C21-B3C6-4A416CEF22EA}"/>
              </a:ext>
            </a:extLst>
          </p:cNvPr>
          <p:cNvSpPr>
            <a:spLocks noGrp="1"/>
          </p:cNvSpPr>
          <p:nvPr/>
        </p:nvSpPr>
        <p:spPr>
          <a:xfrm>
            <a:off x="3448050" y="2657475"/>
            <a:ext cx="24288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AD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66EA81-3D6A-4B8E-934C-279BCC593981}"/>
              </a:ext>
            </a:extLst>
          </p:cNvPr>
          <p:cNvSpPr>
            <a:spLocks noGrp="1"/>
          </p:cNvSpPr>
          <p:nvPr/>
        </p:nvSpPr>
        <p:spPr>
          <a:xfrm>
            <a:off x="3600450" y="2819400"/>
            <a:ext cx="2143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Git + GitHub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A6DFBD-20DB-486E-A33B-A10778271599}"/>
              </a:ext>
            </a:extLst>
          </p:cNvPr>
          <p:cNvSpPr>
            <a:spLocks noGrp="1"/>
          </p:cNvSpPr>
          <p:nvPr/>
        </p:nvSpPr>
        <p:spPr>
          <a:xfrm>
            <a:off x="3600450" y="3276600"/>
            <a:ext cx="21431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versionar e enviar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3460B9C2-F999-4819-92B4-D8DC9137127A}"/>
              </a:ext>
            </a:extLst>
          </p:cNvPr>
          <p:cNvSpPr>
            <a:spLocks noGrp="1"/>
          </p:cNvSpPr>
          <p:nvPr/>
        </p:nvSpPr>
        <p:spPr>
          <a:xfrm>
            <a:off x="5962650" y="3171825"/>
            <a:ext cx="266700" cy="161925"/>
          </a:xfrm>
          <a:prstGeom prst="rightArrow">
            <a:avLst/>
          </a:prstGeom>
          <a:solidFill>
            <a:srgbClr val="F3293A"/>
          </a:solidFill>
          <a:ln w="0">
            <a:noFill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34DFF4-85DE-4CAE-9A6E-5557DE720849}"/>
              </a:ext>
            </a:extLst>
          </p:cNvPr>
          <p:cNvSpPr>
            <a:spLocks noGrp="1"/>
          </p:cNvSpPr>
          <p:nvPr/>
        </p:nvSpPr>
        <p:spPr>
          <a:xfrm>
            <a:off x="6305550" y="2657475"/>
            <a:ext cx="24288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AD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C3F0CED-4078-42E2-A12F-874048462EA1}"/>
              </a:ext>
            </a:extLst>
          </p:cNvPr>
          <p:cNvSpPr>
            <a:spLocks noGrp="1"/>
          </p:cNvSpPr>
          <p:nvPr/>
        </p:nvSpPr>
        <p:spPr>
          <a:xfrm>
            <a:off x="6457950" y="2819400"/>
            <a:ext cx="2143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78AF640-2C57-4A77-8A31-364EFE3906F0}"/>
              </a:ext>
            </a:extLst>
          </p:cNvPr>
          <p:cNvSpPr>
            <a:spLocks noGrp="1"/>
          </p:cNvSpPr>
          <p:nvPr/>
        </p:nvSpPr>
        <p:spPr>
          <a:xfrm>
            <a:off x="6457950" y="3276600"/>
            <a:ext cx="21431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testar e construir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394A6A1-7DA8-4C7A-9BEF-B417F9D1DCDF}"/>
              </a:ext>
            </a:extLst>
          </p:cNvPr>
          <p:cNvSpPr>
            <a:spLocks noGrp="1"/>
          </p:cNvSpPr>
          <p:nvPr/>
        </p:nvSpPr>
        <p:spPr>
          <a:xfrm>
            <a:off x="8820150" y="3171825"/>
            <a:ext cx="266700" cy="161925"/>
          </a:xfrm>
          <a:prstGeom prst="rightArrow">
            <a:avLst/>
          </a:prstGeom>
          <a:solidFill>
            <a:srgbClr val="F3293A"/>
          </a:solidFill>
          <a:ln w="0">
            <a:noFill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349D945-869D-409E-8084-54F3F19F5B4E}"/>
              </a:ext>
            </a:extLst>
          </p:cNvPr>
          <p:cNvSpPr>
            <a:spLocks noGrp="1"/>
          </p:cNvSpPr>
          <p:nvPr/>
        </p:nvSpPr>
        <p:spPr>
          <a:xfrm>
            <a:off x="9163050" y="2657475"/>
            <a:ext cx="2428875" cy="1200150"/>
          </a:xfrm>
          <a:prstGeom prst="rect">
            <a:avLst/>
          </a:prstGeom>
          <a:solidFill>
            <a:srgbClr val="F3293A"/>
          </a:solidFill>
          <a:ln w="9525">
            <a:solidFill>
              <a:srgbClr val="F3293A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6A1563F-5069-45F2-9FD9-78313D346FC7}"/>
              </a:ext>
            </a:extLst>
          </p:cNvPr>
          <p:cNvSpPr>
            <a:spLocks noGrp="1"/>
          </p:cNvSpPr>
          <p:nvPr/>
        </p:nvSpPr>
        <p:spPr>
          <a:xfrm>
            <a:off x="9315450" y="2819400"/>
            <a:ext cx="2143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CD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F1E6519-7DC3-4F0E-B2DB-7A6384F0991B}"/>
              </a:ext>
            </a:extLst>
          </p:cNvPr>
          <p:cNvSpPr>
            <a:spLocks noGrp="1"/>
          </p:cNvSpPr>
          <p:nvPr/>
        </p:nvSpPr>
        <p:spPr>
          <a:xfrm>
            <a:off x="9315450" y="3276600"/>
            <a:ext cx="21431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 verificar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C2060CA-E4AE-45BA-8C8F-E2E838A5FA5B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0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B23"/>
                </a:solidFill>
                <a:latin typeface="Arial"/>
                <a:ea typeface="Arial"/>
                <a:cs typeface="Arial"/>
              </a:rPr>
              <a:t>Uma versão identificada acompanha o processo inteiro.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DC5E183-0E60-4F6F-A9D9-1C538EB136ED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25CA723-D2F8-4A48-A8AD-BFCF349DFEF2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73B4080-4F36-4B20-8250-07C6B2BAE8E9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DESENVOLVIMENTO ATÉ A API</a:t>
            </a:r>
          </a:p>
        </p:txBody>
      </p:sp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7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0B432C72-539B-4756-8F4C-4852223A2CA4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NOSSO EXEMPLO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AFDA46-AA4D-4BAD-9348-0D5DE2F51BD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API de tarefas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9D238B-A5CA-44A5-95F1-E0040A94D61B}"/>
              </a:ext>
            </a:extLst>
          </p:cNvPr>
          <p:cNvSpPr>
            <a:spLocks noGrp="1"/>
          </p:cNvSpPr>
          <p:nvPr/>
        </p:nvSpPr>
        <p:spPr>
          <a:xfrm>
            <a:off x="590550" y="1990725"/>
            <a:ext cx="104775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devops-tasks-api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03430A-DF3B-4E58-9F44-98F2BD72715F}"/>
              </a:ext>
            </a:extLst>
          </p:cNvPr>
          <p:cNvSpPr>
            <a:spLocks noGrp="1"/>
          </p:cNvSpPr>
          <p:nvPr/>
        </p:nvSpPr>
        <p:spPr>
          <a:xfrm>
            <a:off x="600075" y="3219450"/>
            <a:ext cx="3524250" cy="1238250"/>
          </a:xfrm>
          <a:prstGeom prst="rect">
            <a:avLst/>
          </a:prstGeom>
          <a:solidFill>
            <a:srgbClr val="1C2028"/>
          </a:solidFill>
          <a:ln w="9525">
            <a:solidFill>
              <a:srgbClr val="343A47"/>
            </a:solidFill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B111915-1DDC-4DAE-8FB0-82C184A370F0}"/>
              </a:ext>
            </a:extLst>
          </p:cNvPr>
          <p:cNvSpPr>
            <a:spLocks noGrp="1"/>
          </p:cNvSpPr>
          <p:nvPr/>
        </p:nvSpPr>
        <p:spPr>
          <a:xfrm>
            <a:off x="752475" y="3381375"/>
            <a:ext cx="3238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Postman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A819892-6970-48F3-BAA7-F08A77564A7E}"/>
              </a:ext>
            </a:extLst>
          </p:cNvPr>
          <p:cNvSpPr>
            <a:spLocks noGrp="1"/>
          </p:cNvSpPr>
          <p:nvPr/>
        </p:nvSpPr>
        <p:spPr>
          <a:xfrm>
            <a:off x="752475" y="3838575"/>
            <a:ext cx="3238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envia requisição HTTP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D066D0B-12CB-48C8-BDC4-E4CDFE24D543}"/>
              </a:ext>
            </a:extLst>
          </p:cNvPr>
          <p:cNvSpPr>
            <a:spLocks noGrp="1"/>
          </p:cNvSpPr>
          <p:nvPr/>
        </p:nvSpPr>
        <p:spPr>
          <a:xfrm>
            <a:off x="4391025" y="3714750"/>
            <a:ext cx="1143000" cy="161925"/>
          </a:xfrm>
          <a:prstGeom prst="rightArrow">
            <a:avLst/>
          </a:prstGeom>
          <a:solidFill>
            <a:srgbClr val="F3293A"/>
          </a:solidFill>
          <a:ln w="0">
            <a:noFill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508CE0-D728-41D4-B24F-B7246798968F}"/>
              </a:ext>
            </a:extLst>
          </p:cNvPr>
          <p:cNvSpPr>
            <a:spLocks noGrp="1"/>
          </p:cNvSpPr>
          <p:nvPr/>
        </p:nvSpPr>
        <p:spPr>
          <a:xfrm>
            <a:off x="5829300" y="3219450"/>
            <a:ext cx="3810000" cy="1238250"/>
          </a:xfrm>
          <a:prstGeom prst="rect">
            <a:avLst/>
          </a:prstGeom>
          <a:solidFill>
            <a:srgbClr val="F3293A"/>
          </a:solidFill>
          <a:ln w="9525">
            <a:solidFill>
              <a:srgbClr val="F3293A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0BDA812-7A77-4433-BFBF-1D64462D0159}"/>
              </a:ext>
            </a:extLst>
          </p:cNvPr>
          <p:cNvSpPr>
            <a:spLocks noGrp="1"/>
          </p:cNvSpPr>
          <p:nvPr/>
        </p:nvSpPr>
        <p:spPr>
          <a:xfrm>
            <a:off x="5981700" y="3381375"/>
            <a:ext cx="3524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DA03AF-CF31-46F9-A0B3-9DD425C5D3D3}"/>
              </a:ext>
            </a:extLst>
          </p:cNvPr>
          <p:cNvSpPr>
            <a:spLocks noGrp="1"/>
          </p:cNvSpPr>
          <p:nvPr/>
        </p:nvSpPr>
        <p:spPr>
          <a:xfrm>
            <a:off x="5981700" y="3838575"/>
            <a:ext cx="352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 com JSON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7B6C422-4EA5-40DE-8777-FE44CB3E1942}"/>
              </a:ext>
            </a:extLst>
          </p:cNvPr>
          <p:cNvSpPr>
            <a:spLocks noGrp="1"/>
          </p:cNvSpPr>
          <p:nvPr/>
        </p:nvSpPr>
        <p:spPr>
          <a:xfrm>
            <a:off x="619125" y="51054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Uma interface para programas trocarem informações.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C81E046-4FDE-4D43-8B3C-E516D0E30937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F5D0F26-2746-40E6-8A6F-87110F53CD7C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0F2169A-ADBA-4EC6-B666-B5ACFA729763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APLICAÇÃO DIDÁTICA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52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E95A68B-1D76-4A56-9B21-8CCD9B59EAAE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NOSSO EXEMPLO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6FEA791-FAC0-4D43-B645-13448128BE5D}"/>
              </a:ext>
            </a:extLst>
          </p:cNvPr>
          <p:cNvSpPr>
            <a:spLocks noGrp="1"/>
          </p:cNvSpPr>
          <p:nvPr/>
        </p:nvSpPr>
        <p:spPr>
          <a:xfrm>
            <a:off x="590550" y="1990725"/>
            <a:ext cx="6905625" cy="329565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A83D93-5CDA-42AD-955D-DD945B173529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6429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1F50262-3B93-4FF2-A75C-5DB6C101BFD0}"/>
              </a:ext>
            </a:extLst>
          </p:cNvPr>
          <p:cNvSpPr>
            <a:spLocks noGrp="1"/>
          </p:cNvSpPr>
          <p:nvPr/>
        </p:nvSpPr>
        <p:spPr>
          <a:xfrm>
            <a:off x="828675" y="2581275"/>
            <a:ext cx="6477000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EAECE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EAECE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85A935-45C3-48AF-9919-48702295D388}"/>
              </a:ext>
            </a:extLst>
          </p:cNvPr>
          <p:cNvSpPr>
            <a:spLocks noGrp="1"/>
          </p:cNvSpPr>
          <p:nvPr/>
        </p:nvSpPr>
        <p:spPr>
          <a:xfrm>
            <a:off x="828675" y="2981801"/>
            <a:ext cx="6477000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ADB3B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ADB3BF"/>
                </a:solidFill>
                <a:latin typeface="Consolas"/>
                <a:ea typeface="Consolas"/>
                <a:cs typeface="Consolas"/>
              </a:rPr>
              <a:t>  "id": 1,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CE486AD-D11C-4918-BA82-90856D31E44E}"/>
              </a:ext>
            </a:extLst>
          </p:cNvPr>
          <p:cNvSpPr>
            <a:spLocks noGrp="1"/>
          </p:cNvSpPr>
          <p:nvPr/>
        </p:nvSpPr>
        <p:spPr>
          <a:xfrm>
            <a:off x="828675" y="3382328"/>
            <a:ext cx="6477000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"title": "Estudar DevOps",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C9382B-3163-4E38-8B8D-B6D881520278}"/>
              </a:ext>
            </a:extLst>
          </p:cNvPr>
          <p:cNvSpPr>
            <a:spLocks noGrp="1"/>
          </p:cNvSpPr>
          <p:nvPr/>
        </p:nvSpPr>
        <p:spPr>
          <a:xfrm>
            <a:off x="828675" y="3782854"/>
            <a:ext cx="6477000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  "completed": false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176BBE0-53EA-4BD6-B2AA-40D873CF1348}"/>
              </a:ext>
            </a:extLst>
          </p:cNvPr>
          <p:cNvSpPr>
            <a:spLocks noGrp="1"/>
          </p:cNvSpPr>
          <p:nvPr/>
        </p:nvSpPr>
        <p:spPr>
          <a:xfrm>
            <a:off x="828675" y="4183380"/>
            <a:ext cx="6477000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EAECE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EAECE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6FFCF52-768F-4EC8-8897-058ED67F9A4D}"/>
              </a:ext>
            </a:extLst>
          </p:cNvPr>
          <p:cNvSpPr>
            <a:spLocks noGrp="1"/>
          </p:cNvSpPr>
          <p:nvPr/>
        </p:nvSpPr>
        <p:spPr>
          <a:xfrm>
            <a:off x="8162925" y="2181225"/>
            <a:ext cx="3381375" cy="1362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Sem banco</a:t>
            </a:r>
          </a:p>
          <a:p>
            <a:pPr algn="l">
              <a:defRPr sz="32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externo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03A384-537F-495E-B664-A6827B3D45FF}"/>
              </a:ext>
            </a:extLst>
          </p:cNvPr>
          <p:cNvSpPr>
            <a:spLocks noGrp="1"/>
          </p:cNvSpPr>
          <p:nvPr/>
        </p:nvSpPr>
        <p:spPr>
          <a:xfrm>
            <a:off x="8201025" y="3876675"/>
            <a:ext cx="335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Os dados ficam em memória.</a:t>
            </a:r>
          </a:p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Reiniciar a API apaga</a:t>
            </a:r>
          </a:p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as tarefas.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B4F748F-4DC6-4EDD-89DD-11A3E1416AF5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3FEC038-F410-40C4-A897-4B0E4ED37369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39B2FBA-8695-484D-A07A-1708C477240C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DADOS EM MEMÓRIA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D29D9BD5-B0B5-4FC1-980D-94058B95AFBC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DEMONSTRAÇÃO 01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1667132-82E6-4C44-B6DE-F05D08DC19A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API no Postman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6641C7-90FD-4A3F-953E-2E8852A9B649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10382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F3293A"/>
                </a:solidFill>
                <a:latin typeface="Consolas"/>
                <a:ea typeface="Consolas"/>
                <a:cs typeface="Consolas"/>
              </a:defRPr>
            </a:pPr>
            <a:r>
              <a:rPr sz="3600" b="1">
                <a:solidFill>
                  <a:srgbClr val="F3293A"/>
                </a:solidFill>
                <a:latin typeface="Consolas"/>
                <a:ea typeface="Consolas"/>
                <a:cs typeface="Consolas"/>
              </a:rPr>
              <a:t>localhost:3000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4176BD-7EC6-4AD7-9999-7DB1E6159432}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GET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5CC4476-EAAB-4BD6-A78D-3F0C0B25DE08}"/>
              </a:ext>
            </a:extLst>
          </p:cNvPr>
          <p:cNvSpPr>
            <a:spLocks noGrp="1"/>
          </p:cNvSpPr>
          <p:nvPr/>
        </p:nvSpPr>
        <p:spPr>
          <a:xfrm>
            <a:off x="2295525" y="276225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/health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C657D2B-105F-49BF-8F7B-4A76B862BF73}"/>
              </a:ext>
            </a:extLst>
          </p:cNvPr>
          <p:cNvSpPr>
            <a:spLocks noGrp="1"/>
          </p:cNvSpPr>
          <p:nvPr/>
        </p:nvSpPr>
        <p:spPr>
          <a:xfrm>
            <a:off x="8562975" y="2762250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saúde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9A2D9D5-FACD-4D5F-A667-5F8C32AC6700}"/>
              </a:ext>
            </a:extLst>
          </p:cNvPr>
          <p:cNvSpPr>
            <a:spLocks noGrp="1"/>
          </p:cNvSpPr>
          <p:nvPr/>
        </p:nvSpPr>
        <p:spPr>
          <a:xfrm>
            <a:off x="619125" y="323850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A8F1814-07AA-44B9-AE00-C2E232F21E6F}"/>
              </a:ext>
            </a:extLst>
          </p:cNvPr>
          <p:cNvSpPr>
            <a:spLocks noGrp="1"/>
          </p:cNvSpPr>
          <p:nvPr/>
        </p:nvSpPr>
        <p:spPr>
          <a:xfrm>
            <a:off x="2295525" y="323850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/tasks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F40C3D8-EDDD-4AB3-B77B-8D43CA6D80F5}"/>
              </a:ext>
            </a:extLst>
          </p:cNvPr>
          <p:cNvSpPr>
            <a:spLocks noGrp="1"/>
          </p:cNvSpPr>
          <p:nvPr/>
        </p:nvSpPr>
        <p:spPr>
          <a:xfrm>
            <a:off x="8562975" y="3238500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criação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C89D776-8015-4B41-A1DE-4D1A30A48749}"/>
              </a:ext>
            </a:extLst>
          </p:cNvPr>
          <p:cNvSpPr>
            <a:spLocks noGrp="1"/>
          </p:cNvSpPr>
          <p:nvPr/>
        </p:nvSpPr>
        <p:spPr>
          <a:xfrm>
            <a:off x="619125" y="371475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GET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D234D2A-1358-41CB-A87D-6FCF15D9BD1C}"/>
              </a:ext>
            </a:extLst>
          </p:cNvPr>
          <p:cNvSpPr>
            <a:spLocks noGrp="1"/>
          </p:cNvSpPr>
          <p:nvPr/>
        </p:nvSpPr>
        <p:spPr>
          <a:xfrm>
            <a:off x="2295525" y="371475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/tasks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E10FC0D-ED67-43ED-88E7-7D7748EFF1F8}"/>
              </a:ext>
            </a:extLst>
          </p:cNvPr>
          <p:cNvSpPr>
            <a:spLocks noGrp="1"/>
          </p:cNvSpPr>
          <p:nvPr/>
        </p:nvSpPr>
        <p:spPr>
          <a:xfrm>
            <a:off x="8562975" y="3714750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listagem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50D312C-B915-4782-8714-B90372C42215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GET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B684580-CED5-4F7B-B827-A19EA1CE207B}"/>
              </a:ext>
            </a:extLst>
          </p:cNvPr>
          <p:cNvSpPr>
            <a:spLocks noGrp="1"/>
          </p:cNvSpPr>
          <p:nvPr/>
        </p:nvSpPr>
        <p:spPr>
          <a:xfrm>
            <a:off x="2295525" y="419100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/tasks/:id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663CDDE-ACC2-4587-805A-E1A0D2ED90A7}"/>
              </a:ext>
            </a:extLst>
          </p:cNvPr>
          <p:cNvSpPr>
            <a:spLocks noGrp="1"/>
          </p:cNvSpPr>
          <p:nvPr/>
        </p:nvSpPr>
        <p:spPr>
          <a:xfrm>
            <a:off x="8562975" y="4191000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7FC3C50-A6D0-46F2-8696-62DEB6601BFD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PUT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FFD4681-57A1-4163-A2B5-1339D3EA0FDB}"/>
              </a:ext>
            </a:extLst>
          </p:cNvPr>
          <p:cNvSpPr>
            <a:spLocks noGrp="1"/>
          </p:cNvSpPr>
          <p:nvPr/>
        </p:nvSpPr>
        <p:spPr>
          <a:xfrm>
            <a:off x="2295525" y="466725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/tasks/:id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A07772E-9862-45FB-BA5C-B2CB1FCF3D1A}"/>
              </a:ext>
            </a:extLst>
          </p:cNvPr>
          <p:cNvSpPr>
            <a:spLocks noGrp="1"/>
          </p:cNvSpPr>
          <p:nvPr/>
        </p:nvSpPr>
        <p:spPr>
          <a:xfrm>
            <a:off x="8562975" y="4667250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atualização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C35CFD2-0831-4136-BA71-3C5E1F471CB1}"/>
              </a:ext>
            </a:extLst>
          </p:cNvPr>
          <p:cNvSpPr>
            <a:spLocks noGrp="1"/>
          </p:cNvSpPr>
          <p:nvPr/>
        </p:nvSpPr>
        <p:spPr>
          <a:xfrm>
            <a:off x="619125" y="5143500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3293A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F3293A"/>
                </a:solidFill>
                <a:latin typeface="Consolas"/>
                <a:ea typeface="Consolas"/>
                <a:cs typeface="Consolas"/>
              </a:rPr>
              <a:t>DELETE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3AD37F8-3EA7-4044-AE8B-8EC5AF28D224}"/>
              </a:ext>
            </a:extLst>
          </p:cNvPr>
          <p:cNvSpPr>
            <a:spLocks noGrp="1"/>
          </p:cNvSpPr>
          <p:nvPr/>
        </p:nvSpPr>
        <p:spPr>
          <a:xfrm>
            <a:off x="2295525" y="514350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/tasks/:id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16A42F8-F45B-46C3-9659-BB079BD9399A}"/>
              </a:ext>
            </a:extLst>
          </p:cNvPr>
          <p:cNvSpPr>
            <a:spLocks noGrp="1"/>
          </p:cNvSpPr>
          <p:nvPr/>
        </p:nvSpPr>
        <p:spPr>
          <a:xfrm>
            <a:off x="8562975" y="5143500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exclusão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E711C2B-A8B7-4DD3-96F7-213AFFA2FCA7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5A9FD1E-B21A-4A06-8FA4-52D3A7A9AC5A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41847C2-63E3-419F-B8B2-D28EB8B519F2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POSTMAN</a:t>
            </a:r>
          </a:p>
        </p:txBody>
      </p:sp>
      <p:pic>
        <p:nvPicPr>
          <p:cNvPr id="50" name="Imagem 4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4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A80E7BEC-A22D-4A3C-AC9C-FB1C78661995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7E39AC-4C0D-4218-A4DB-0EE73BF93F7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lang="pt-BR" sz="3900" b="1" dirty="0">
                <a:solidFill>
                  <a:srgbClr val="171B23"/>
                </a:solidFill>
                <a:latin typeface="Arial"/>
                <a:ea typeface="Arial"/>
                <a:cs typeface="Arial"/>
              </a:rPr>
              <a:t>Estrutura principal do nosso projeto</a:t>
            </a:r>
            <a:endParaRPr sz="3900" b="1" dirty="0">
              <a:solidFill>
                <a:srgbClr val="171B2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4561B1-8B6E-4081-AFE5-FACA2760C3DA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4143375" cy="3000375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F0CF0A-0C37-497F-B5A2-E261124A2A69}"/>
              </a:ext>
            </a:extLst>
          </p:cNvPr>
          <p:cNvSpPr>
            <a:spLocks noGrp="1"/>
          </p:cNvSpPr>
          <p:nvPr/>
        </p:nvSpPr>
        <p:spPr>
          <a:xfrm>
            <a:off x="828675" y="2276475"/>
            <a:ext cx="3667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SRC/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8BD1B2-A5E7-4E33-B9C1-D4C214ED4B2B}"/>
              </a:ext>
            </a:extLst>
          </p:cNvPr>
          <p:cNvSpPr>
            <a:spLocks noGrp="1"/>
          </p:cNvSpPr>
          <p:nvPr/>
        </p:nvSpPr>
        <p:spPr>
          <a:xfrm>
            <a:off x="828675" y="27051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app.js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7C9D481-17FA-40AA-BBC6-63F2C5CFB841}"/>
              </a:ext>
            </a:extLst>
          </p:cNvPr>
          <p:cNvSpPr>
            <a:spLocks noGrp="1"/>
          </p:cNvSpPr>
          <p:nvPr/>
        </p:nvSpPr>
        <p:spPr>
          <a:xfrm>
            <a:off x="828675" y="314706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server.js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5DE123-1D3D-4001-BF02-46CC5825AF85}"/>
              </a:ext>
            </a:extLst>
          </p:cNvPr>
          <p:cNvSpPr>
            <a:spLocks noGrp="1"/>
          </p:cNvSpPr>
          <p:nvPr/>
        </p:nvSpPr>
        <p:spPr>
          <a:xfrm>
            <a:off x="828675" y="358902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0">
                <a:solidFill>
                  <a:srgbClr val="ADB3BF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ADB3BF"/>
                </a:solidFill>
                <a:latin typeface="Consolas"/>
                <a:ea typeface="Consolas"/>
                <a:cs typeface="Consolas"/>
              </a:rPr>
              <a:t>routes/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9646582-AA9A-4B5E-9BC0-6FC97B6A74CF}"/>
              </a:ext>
            </a:extLst>
          </p:cNvPr>
          <p:cNvSpPr>
            <a:spLocks noGrp="1"/>
          </p:cNvSpPr>
          <p:nvPr/>
        </p:nvSpPr>
        <p:spPr>
          <a:xfrm>
            <a:off x="828675" y="403098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0">
                <a:solidFill>
                  <a:srgbClr val="F3293A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3293A"/>
                </a:solidFill>
                <a:latin typeface="Consolas"/>
                <a:ea typeface="Consolas"/>
                <a:cs typeface="Consolas"/>
              </a:rPr>
              <a:t>  tasks.js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BD408A5-10C8-456D-AAC9-A93B122D36FF}"/>
              </a:ext>
            </a:extLst>
          </p:cNvPr>
          <p:cNvSpPr>
            <a:spLocks noGrp="1"/>
          </p:cNvSpPr>
          <p:nvPr/>
        </p:nvSpPr>
        <p:spPr>
          <a:xfrm>
            <a:off x="5248275" y="2114550"/>
            <a:ext cx="628650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app.js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5294959-0A66-4D1E-8BC1-9656302968AD}"/>
              </a:ext>
            </a:extLst>
          </p:cNvPr>
          <p:cNvSpPr>
            <a:spLocks noGrp="1"/>
          </p:cNvSpPr>
          <p:nvPr/>
        </p:nvSpPr>
        <p:spPr>
          <a:xfrm>
            <a:off x="5248275" y="2609850"/>
            <a:ext cx="628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Configuração da API e rota /health.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29178A-BC53-45DB-B21E-41BDBAF2C37C}"/>
              </a:ext>
            </a:extLst>
          </p:cNvPr>
          <p:cNvSpPr>
            <a:spLocks noGrp="1"/>
          </p:cNvSpPr>
          <p:nvPr/>
        </p:nvSpPr>
        <p:spPr>
          <a:xfrm>
            <a:off x="5248275" y="3371850"/>
            <a:ext cx="628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server.js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00DF47-8B7C-420E-B48A-531AD54F56DF}"/>
              </a:ext>
            </a:extLst>
          </p:cNvPr>
          <p:cNvSpPr>
            <a:spLocks noGrp="1"/>
          </p:cNvSpPr>
          <p:nvPr/>
        </p:nvSpPr>
        <p:spPr>
          <a:xfrm>
            <a:off x="5248275" y="3857625"/>
            <a:ext cx="628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Servidor, endereço e porta.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79FA210-E0DF-4DF5-BAAF-28A951E66104}"/>
              </a:ext>
            </a:extLst>
          </p:cNvPr>
          <p:cNvSpPr>
            <a:spLocks noGrp="1"/>
          </p:cNvSpPr>
          <p:nvPr/>
        </p:nvSpPr>
        <p:spPr>
          <a:xfrm>
            <a:off x="5248275" y="4552950"/>
            <a:ext cx="628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tasks.js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7FD4B05-CA67-430E-AEF8-2560C1E0C6A2}"/>
              </a:ext>
            </a:extLst>
          </p:cNvPr>
          <p:cNvSpPr>
            <a:spLocks noGrp="1"/>
          </p:cNvSpPr>
          <p:nvPr/>
        </p:nvSpPr>
        <p:spPr>
          <a:xfrm>
            <a:off x="5248275" y="5048250"/>
            <a:ext cx="628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CRUD e validação das tarefas.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04ADB80-7CEA-40E2-8419-3549EEB296DD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F6711E6-6739-4C16-B1A0-3C7BD96BE819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9E924F-966D-4CFF-B0AA-800813FB85CD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NODE.JS 24.19.0 E NPM 11.17.0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4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40652E96-A6E9-4748-8C09-72D06FB2946F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TESTES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52C0388-9515-4005-8E17-1276CD3599C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esperado encontra o resultado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BAF8A6-C7F7-474C-AD24-5E65B159D6F8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1049000" cy="276225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CBDBC24-8FF2-4B7B-8A73-57322CF507D0}"/>
              </a:ext>
            </a:extLst>
          </p:cNvPr>
          <p:cNvSpPr>
            <a:spLocks noGrp="1"/>
          </p:cNvSpPr>
          <p:nvPr/>
        </p:nvSpPr>
        <p:spPr>
          <a:xfrm>
            <a:off x="809625" y="2257425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TEST/TASKS.TEST.JS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E9424D-A796-46F2-8786-C98AE5E124DB}"/>
              </a:ext>
            </a:extLst>
          </p:cNvPr>
          <p:cNvSpPr>
            <a:spLocks noGrp="1"/>
          </p:cNvSpPr>
          <p:nvPr/>
        </p:nvSpPr>
        <p:spPr>
          <a:xfrm>
            <a:off x="809625" y="268605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assert.equal(response.statusCode, 200);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E01C51-6B21-4AFF-9B24-BDB343A2D51F}"/>
              </a:ext>
            </a:extLst>
          </p:cNvPr>
          <p:cNvSpPr>
            <a:spLocks noGrp="1"/>
          </p:cNvSpPr>
          <p:nvPr/>
        </p:nvSpPr>
        <p:spPr>
          <a:xfrm>
            <a:off x="809625" y="3072765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assert.deepEqual(response.json(), {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B2B6DE2-ACCE-4FF9-94AC-D31B93DB23B1}"/>
              </a:ext>
            </a:extLst>
          </p:cNvPr>
          <p:cNvSpPr>
            <a:spLocks noGrp="1"/>
          </p:cNvSpPr>
          <p:nvPr/>
        </p:nvSpPr>
        <p:spPr>
          <a:xfrm>
            <a:off x="809625" y="345948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  status: 'ok',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3448DF-7D0F-42FE-BE81-0FFAF98C77AF}"/>
              </a:ext>
            </a:extLst>
          </p:cNvPr>
          <p:cNvSpPr>
            <a:spLocks noGrp="1"/>
          </p:cNvSpPr>
          <p:nvPr/>
        </p:nvSpPr>
        <p:spPr>
          <a:xfrm>
            <a:off x="809625" y="3846195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ADB3B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DB3BF"/>
                </a:solidFill>
                <a:latin typeface="Consolas"/>
                <a:ea typeface="Consolas"/>
                <a:cs typeface="Consolas"/>
              </a:rPr>
              <a:t>  application: 'devops-tasks-api'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757B21-7455-4A81-AC2B-04D299C38DA2}"/>
              </a:ext>
            </a:extLst>
          </p:cNvPr>
          <p:cNvSpPr>
            <a:spLocks noGrp="1"/>
          </p:cNvSpPr>
          <p:nvPr/>
        </p:nvSpPr>
        <p:spPr>
          <a:xfrm>
            <a:off x="809625" y="423291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59836E1-9EAA-4F16-9F7F-B06C41476D96}"/>
              </a:ext>
            </a:extLst>
          </p:cNvPr>
          <p:cNvSpPr>
            <a:spLocks noGrp="1"/>
          </p:cNvSpPr>
          <p:nvPr/>
        </p:nvSpPr>
        <p:spPr>
          <a:xfrm>
            <a:off x="590550" y="5133975"/>
            <a:ext cx="42576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npm test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ABFABF7-4016-4286-ACCC-6363E571C123}"/>
              </a:ext>
            </a:extLst>
          </p:cNvPr>
          <p:cNvSpPr>
            <a:spLocks noGrp="1"/>
          </p:cNvSpPr>
          <p:nvPr/>
        </p:nvSpPr>
        <p:spPr>
          <a:xfrm>
            <a:off x="4867275" y="5210175"/>
            <a:ext cx="666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6 testes cobrem saúde, CRUD e validações.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BC576CE-3E0B-49DB-9CBF-EFDF759E6DF2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AAC2153-D515-4267-BCFC-CD8155B776D3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E52AAD-F29A-4E88-9615-875F1AEBBA3F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TERMINAL E CÓDIGO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3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7A3F40DF-A6D8-48CF-BD8E-63437EA19B6F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VERSIONAMENTO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1961A31-B428-4C29-8F52-65E41780B041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Git e GitHub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39A11C1-E234-4366-BEF1-9BEE7DFCD5B6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47625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8C84D8D-BE19-4123-AE7C-B4F578F7D093}"/>
              </a:ext>
            </a:extLst>
          </p:cNvPr>
          <p:cNvSpPr>
            <a:spLocks noGrp="1"/>
          </p:cNvSpPr>
          <p:nvPr/>
        </p:nvSpPr>
        <p:spPr>
          <a:xfrm>
            <a:off x="6505575" y="2076450"/>
            <a:ext cx="504825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FB20AB-AD57-4344-8DDE-BCCD38C41610}"/>
              </a:ext>
            </a:extLst>
          </p:cNvPr>
          <p:cNvSpPr>
            <a:spLocks noGrp="1"/>
          </p:cNvSpPr>
          <p:nvPr/>
        </p:nvSpPr>
        <p:spPr>
          <a:xfrm>
            <a:off x="619125" y="3486150"/>
            <a:ext cx="4857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Histórico local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3238EB3-BB95-4DAD-AA47-274CEECA867D}"/>
              </a:ext>
            </a:extLst>
          </p:cNvPr>
          <p:cNvSpPr>
            <a:spLocks noGrp="1"/>
          </p:cNvSpPr>
          <p:nvPr/>
        </p:nvSpPr>
        <p:spPr>
          <a:xfrm>
            <a:off x="619125" y="4181475"/>
            <a:ext cx="4857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Cada commit registra</a:t>
            </a:r>
          </a:p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uma versão do projeto.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EFD32AD-326D-473F-89AF-1FAB8D9EB028}"/>
              </a:ext>
            </a:extLst>
          </p:cNvPr>
          <p:cNvSpPr>
            <a:spLocks noGrp="1"/>
          </p:cNvSpPr>
          <p:nvPr/>
        </p:nvSpPr>
        <p:spPr>
          <a:xfrm>
            <a:off x="6543675" y="3486150"/>
            <a:ext cx="50006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Repositório remoto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5FF28E9-AD27-4652-A5B6-AB47CCAE5278}"/>
              </a:ext>
            </a:extLst>
          </p:cNvPr>
          <p:cNvSpPr>
            <a:spLocks noGrp="1"/>
          </p:cNvSpPr>
          <p:nvPr/>
        </p:nvSpPr>
        <p:spPr>
          <a:xfrm>
            <a:off x="6543675" y="4181475"/>
            <a:ext cx="5000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Colaboração e automação</a:t>
            </a:r>
          </a:p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com GitHub Actions.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E8D45D4-0333-4A34-970F-22D215BEB812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F29BB8B-9135-4A81-8A6B-79897FDD4878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2603A3-BAA6-4964-A35B-09D3CF5AA9CA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FERRAMENTAS COM PAPÉIS DIFERENTES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  <p:pic>
        <p:nvPicPr>
          <p:cNvPr id="1026" name="Picture 2" descr="Git - Logo Downloads">
            <a:extLst>
              <a:ext uri="{FF2B5EF4-FFF2-40B4-BE49-F238E27FC236}">
                <a16:creationId xmlns:a16="http://schemas.microsoft.com/office/drawing/2014/main" id="{A83DBB92-29D3-4282-5706-3B0558CD5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77485"/>
            <a:ext cx="1226630" cy="122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- Free social media icons">
            <a:extLst>
              <a:ext uri="{FF2B5EF4-FFF2-40B4-BE49-F238E27FC236}">
                <a16:creationId xmlns:a16="http://schemas.microsoft.com/office/drawing/2014/main" id="{9289B222-0465-9C7F-AD18-CF7886CFD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784" y="1927669"/>
            <a:ext cx="1326261" cy="132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15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AF719968-064A-4ED6-83B9-D0E33A6A2525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VERSIONAMENTO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2F7129C-FDEC-4D57-85B0-B637B7F9360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mudança vira um commit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66FE93-91C2-40F4-8C67-12F96F23B207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4905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9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status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3C6B49D-81E5-4BE5-A143-9065C8F7CEF1}"/>
              </a:ext>
            </a:extLst>
          </p:cNvPr>
          <p:cNvSpPr>
            <a:spLocks noGrp="1"/>
          </p:cNvSpPr>
          <p:nvPr/>
        </p:nvSpPr>
        <p:spPr>
          <a:xfrm>
            <a:off x="6229350" y="2257425"/>
            <a:ext cx="52673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ver o que mudou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C46946-73BA-45E7-9D43-FB91F3BAD412}"/>
              </a:ext>
            </a:extLst>
          </p:cNvPr>
          <p:cNvSpPr>
            <a:spLocks noGrp="1"/>
          </p:cNvSpPr>
          <p:nvPr/>
        </p:nvSpPr>
        <p:spPr>
          <a:xfrm>
            <a:off x="590550" y="3000375"/>
            <a:ext cx="4905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9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add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7544F3-DB5E-418A-8A9A-A48868227F20}"/>
              </a:ext>
            </a:extLst>
          </p:cNvPr>
          <p:cNvSpPr>
            <a:spLocks noGrp="1"/>
          </p:cNvSpPr>
          <p:nvPr/>
        </p:nvSpPr>
        <p:spPr>
          <a:xfrm>
            <a:off x="6229350" y="3114675"/>
            <a:ext cx="52673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selecionar arquivos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DC774EB-BA5B-493E-BD11-3D6CA51C540A}"/>
              </a:ext>
            </a:extLst>
          </p:cNvPr>
          <p:cNvSpPr>
            <a:spLocks noGrp="1"/>
          </p:cNvSpPr>
          <p:nvPr/>
        </p:nvSpPr>
        <p:spPr>
          <a:xfrm>
            <a:off x="590550" y="3857625"/>
            <a:ext cx="4905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9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commit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678640-5863-4F05-945C-AA007C2B6B99}"/>
              </a:ext>
            </a:extLst>
          </p:cNvPr>
          <p:cNvSpPr>
            <a:spLocks noGrp="1"/>
          </p:cNvSpPr>
          <p:nvPr/>
        </p:nvSpPr>
        <p:spPr>
          <a:xfrm>
            <a:off x="6229350" y="3971925"/>
            <a:ext cx="52673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registrar a versão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CCCA3E5-EB76-49CC-B32F-4C9A07FC2085}"/>
              </a:ext>
            </a:extLst>
          </p:cNvPr>
          <p:cNvSpPr>
            <a:spLocks noGrp="1"/>
          </p:cNvSpPr>
          <p:nvPr/>
        </p:nvSpPr>
        <p:spPr>
          <a:xfrm>
            <a:off x="590550" y="4714875"/>
            <a:ext cx="4905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925" b="1">
                <a:solidFill>
                  <a:srgbClr val="F3293A"/>
                </a:solidFill>
                <a:latin typeface="Consolas"/>
                <a:ea typeface="Consolas"/>
                <a:cs typeface="Consolas"/>
              </a:defRPr>
            </a:pPr>
            <a:r>
              <a:rPr sz="2925" b="1">
                <a:solidFill>
                  <a:srgbClr val="F3293A"/>
                </a:solidFill>
                <a:latin typeface="Consolas"/>
                <a:ea typeface="Consolas"/>
                <a:cs typeface="Consolas"/>
              </a:rPr>
              <a:t>git push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ADC780B-5C07-4AAA-89EB-E0D381A3EC93}"/>
              </a:ext>
            </a:extLst>
          </p:cNvPr>
          <p:cNvSpPr>
            <a:spLocks noGrp="1"/>
          </p:cNvSpPr>
          <p:nvPr/>
        </p:nvSpPr>
        <p:spPr>
          <a:xfrm>
            <a:off x="6229350" y="4829175"/>
            <a:ext cx="52673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enviar ao GitHub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DB99D7C-E224-442C-AF91-BAC22A1EE309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628306F-DFB1-454E-BC02-12F68A38AB87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6E6327D-746C-4605-A618-84496ACC74BC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HISTÓRICO DO PROJETO</a:t>
            </a: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67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893CFE8-9535-435E-9540-8C613F503458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INTEGRAÇÃO CONTÍNUA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23D625-0D35-47B1-B257-6CEADF675F4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CI: a alteração passa por verificações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25A4EFE-F579-4E03-9D8E-EA6FD940A6CB}"/>
              </a:ext>
            </a:extLst>
          </p:cNvPr>
          <p:cNvSpPr>
            <a:spLocks noGrp="1"/>
          </p:cNvSpPr>
          <p:nvPr/>
        </p:nvSpPr>
        <p:spPr>
          <a:xfrm>
            <a:off x="600075" y="2219325"/>
            <a:ext cx="314325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8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D1FF96-22BA-4428-A46D-5E80EDCE8DB3}"/>
              </a:ext>
            </a:extLst>
          </p:cNvPr>
          <p:cNvSpPr>
            <a:spLocks noGrp="1"/>
          </p:cNvSpPr>
          <p:nvPr/>
        </p:nvSpPr>
        <p:spPr>
          <a:xfrm>
            <a:off x="600075" y="3543300"/>
            <a:ext cx="34956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1B23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71B23"/>
                </a:solidFill>
                <a:latin typeface="Consolas"/>
                <a:ea typeface="Consolas"/>
                <a:cs typeface="Consolas"/>
              </a:rPr>
              <a:t>npm ci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51CDF1-3276-416E-859E-394589FBAEC8}"/>
              </a:ext>
            </a:extLst>
          </p:cNvPr>
          <p:cNvSpPr>
            <a:spLocks noGrp="1"/>
          </p:cNvSpPr>
          <p:nvPr/>
        </p:nvSpPr>
        <p:spPr>
          <a:xfrm>
            <a:off x="600075" y="4371975"/>
            <a:ext cx="342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Dependências fixadas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AAE67AD-927A-47C2-80E5-DF91F0B71795}"/>
              </a:ext>
            </a:extLst>
          </p:cNvPr>
          <p:cNvSpPr>
            <a:spLocks noGrp="1"/>
          </p:cNvSpPr>
          <p:nvPr/>
        </p:nvSpPr>
        <p:spPr>
          <a:xfrm>
            <a:off x="4410075" y="2219325"/>
            <a:ext cx="314325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8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B0C53C7-F353-42D7-99E3-B800904E7BE7}"/>
              </a:ext>
            </a:extLst>
          </p:cNvPr>
          <p:cNvSpPr>
            <a:spLocks noGrp="1"/>
          </p:cNvSpPr>
          <p:nvPr/>
        </p:nvSpPr>
        <p:spPr>
          <a:xfrm>
            <a:off x="4410075" y="3543300"/>
            <a:ext cx="34956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1B23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71B23"/>
                </a:solidFill>
                <a:latin typeface="Consolas"/>
                <a:ea typeface="Consolas"/>
                <a:cs typeface="Consolas"/>
              </a:rPr>
              <a:t>npm test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4FE63E-190A-4C17-92AD-1A5880052E5B}"/>
              </a:ext>
            </a:extLst>
          </p:cNvPr>
          <p:cNvSpPr>
            <a:spLocks noGrp="1"/>
          </p:cNvSpPr>
          <p:nvPr/>
        </p:nvSpPr>
        <p:spPr>
          <a:xfrm>
            <a:off x="4410075" y="4371975"/>
            <a:ext cx="342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Comportamento da API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39CAB8-9834-41E0-809C-D582A7F4E6BE}"/>
              </a:ext>
            </a:extLst>
          </p:cNvPr>
          <p:cNvSpPr>
            <a:spLocks noGrp="1"/>
          </p:cNvSpPr>
          <p:nvPr/>
        </p:nvSpPr>
        <p:spPr>
          <a:xfrm>
            <a:off x="8220075" y="2219325"/>
            <a:ext cx="314325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8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2386D18-444D-4786-BF09-851408B64E89}"/>
              </a:ext>
            </a:extLst>
          </p:cNvPr>
          <p:cNvSpPr>
            <a:spLocks noGrp="1"/>
          </p:cNvSpPr>
          <p:nvPr/>
        </p:nvSpPr>
        <p:spPr>
          <a:xfrm>
            <a:off x="8220075" y="3543300"/>
            <a:ext cx="34956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1B23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71B23"/>
                </a:solidFill>
                <a:latin typeface="Consolas"/>
                <a:ea typeface="Consolas"/>
                <a:cs typeface="Consolas"/>
              </a:rPr>
              <a:t>docker build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B00CD4E-EAAA-4EA1-95F5-D4AF9DC0515D}"/>
              </a:ext>
            </a:extLst>
          </p:cNvPr>
          <p:cNvSpPr>
            <a:spLocks noGrp="1"/>
          </p:cNvSpPr>
          <p:nvPr/>
        </p:nvSpPr>
        <p:spPr>
          <a:xfrm>
            <a:off x="8220075" y="4371975"/>
            <a:ext cx="342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Imagem da aplicação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0F2198-186E-4B2F-9C35-C26CA6816FD8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72299B-BF36-400F-A178-14A90449007E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863A384-1EF6-4FE9-AC44-EA6D26690C77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GATILHOS: PUSH E PULL REQUEST PARA MAIN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1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F50E552F-58A7-4EA6-B3F0-DDB5DA12BBB1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410A07-15B2-480F-A84A-1E2C9AE9C10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pipeline também é código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EE1FF55-91F6-420B-988C-C409E6226776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11049000" cy="310515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A0F71D-9792-429C-AE92-815B202190F1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CI.YML • TRECHO SIMPLIFICADO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9BCE4F4-0F30-472F-AD59-76F4F760A9AC}"/>
              </a:ext>
            </a:extLst>
          </p:cNvPr>
          <p:cNvSpPr>
            <a:spLocks noGrp="1"/>
          </p:cNvSpPr>
          <p:nvPr/>
        </p:nvSpPr>
        <p:spPr>
          <a:xfrm>
            <a:off x="809625" y="2619375"/>
            <a:ext cx="10620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ADB3BF"/>
                </a:solidFill>
                <a:latin typeface="Consolas"/>
                <a:ea typeface="Consolas"/>
                <a:cs typeface="Consolas"/>
              </a:rPr>
              <a:t>- name: Instalar dependências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0120EF7-0E83-46BE-99DA-DB9AAB214AE8}"/>
              </a:ext>
            </a:extLst>
          </p:cNvPr>
          <p:cNvSpPr>
            <a:spLocks noGrp="1"/>
          </p:cNvSpPr>
          <p:nvPr/>
        </p:nvSpPr>
        <p:spPr>
          <a:xfrm>
            <a:off x="809625" y="2978468"/>
            <a:ext cx="10620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run: npm ci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EAA9670-78B7-4E83-9E63-4EBAF3DFD653}"/>
              </a:ext>
            </a:extLst>
          </p:cNvPr>
          <p:cNvSpPr>
            <a:spLocks noGrp="1"/>
          </p:cNvSpPr>
          <p:nvPr/>
        </p:nvSpPr>
        <p:spPr>
          <a:xfrm>
            <a:off x="809625" y="3337560"/>
            <a:ext cx="10620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ADB3BF"/>
                </a:solidFill>
                <a:latin typeface="Consolas"/>
                <a:ea typeface="Consolas"/>
                <a:cs typeface="Consolas"/>
              </a:rPr>
              <a:t>- name: Executar testes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357A5D4-8E4A-48F0-AC17-88389857E001}"/>
              </a:ext>
            </a:extLst>
          </p:cNvPr>
          <p:cNvSpPr>
            <a:spLocks noGrp="1"/>
          </p:cNvSpPr>
          <p:nvPr/>
        </p:nvSpPr>
        <p:spPr>
          <a:xfrm>
            <a:off x="809625" y="3696653"/>
            <a:ext cx="10620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  run: npm test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281B757-EA03-46F3-9C4F-8434E3C9317D}"/>
              </a:ext>
            </a:extLst>
          </p:cNvPr>
          <p:cNvSpPr>
            <a:spLocks noGrp="1"/>
          </p:cNvSpPr>
          <p:nvPr/>
        </p:nvSpPr>
        <p:spPr>
          <a:xfrm>
            <a:off x="809625" y="4055745"/>
            <a:ext cx="10620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ADB3B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ADB3BF"/>
                </a:solidFill>
                <a:latin typeface="Consolas"/>
                <a:ea typeface="Consolas"/>
                <a:cs typeface="Consolas"/>
              </a:rPr>
              <a:t>- name: Build Docker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0B0F4E7-E577-44F4-AAC0-30C31963FB25}"/>
              </a:ext>
            </a:extLst>
          </p:cNvPr>
          <p:cNvSpPr>
            <a:spLocks noGrp="1"/>
          </p:cNvSpPr>
          <p:nvPr/>
        </p:nvSpPr>
        <p:spPr>
          <a:xfrm>
            <a:off x="809625" y="4414838"/>
            <a:ext cx="10620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run: docker build -t devops-tasks-api 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0CFD54E-1835-4F71-8830-C0D337EFE655}"/>
              </a:ext>
            </a:extLst>
          </p:cNvPr>
          <p:cNvSpPr>
            <a:spLocks noGrp="1"/>
          </p:cNvSpPr>
          <p:nvPr/>
        </p:nvSpPr>
        <p:spPr>
          <a:xfrm>
            <a:off x="619125" y="53244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Cada etapa deixa seu resultado e seus logs no Actions.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95C9FC6-EB94-4367-AAE9-299E8DB908CC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A859B6-DCA5-47E3-B760-474080D7F303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47F5610-C8C7-4466-89AF-39249DC9D7AD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EXECUÇÃO DO CI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6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4ABAE51-E030-41CC-A075-57161ADD7E56}"/>
              </a:ext>
            </a:extLst>
          </p:cNvPr>
          <p:cNvSpPr>
            <a:spLocks noGrp="1"/>
          </p:cNvSpPr>
          <p:nvPr/>
        </p:nvSpPr>
        <p:spPr>
          <a:xfrm>
            <a:off x="571500" y="638175"/>
            <a:ext cx="5381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E24A06-AEE8-4AE5-8AF2-81346E7721EA}"/>
              </a:ext>
            </a:extLst>
          </p:cNvPr>
          <p:cNvSpPr>
            <a:spLocks noGrp="1"/>
          </p:cNvSpPr>
          <p:nvPr/>
        </p:nvSpPr>
        <p:spPr>
          <a:xfrm>
            <a:off x="600075" y="2105025"/>
            <a:ext cx="4905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0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Imagem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B14B5B-FC4A-4A90-AFDB-8991C584150A}"/>
              </a:ext>
            </a:extLst>
          </p:cNvPr>
          <p:cNvSpPr>
            <a:spLocks noGrp="1"/>
          </p:cNvSpPr>
          <p:nvPr/>
        </p:nvSpPr>
        <p:spPr>
          <a:xfrm>
            <a:off x="619125" y="2819400"/>
            <a:ext cx="5000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O pacote com aplicação</a:t>
            </a:r>
          </a:p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e dependências.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820C6A0-5A33-4513-92BF-E2C84A61C39A}"/>
              </a:ext>
            </a:extLst>
          </p:cNvPr>
          <p:cNvSpPr>
            <a:spLocks noGrp="1"/>
          </p:cNvSpPr>
          <p:nvPr/>
        </p:nvSpPr>
        <p:spPr>
          <a:xfrm>
            <a:off x="600075" y="3886200"/>
            <a:ext cx="51911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Contêiner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2A22741-BF88-4998-AE4C-72C7EF60A740}"/>
              </a:ext>
            </a:extLst>
          </p:cNvPr>
          <p:cNvSpPr>
            <a:spLocks noGrp="1"/>
          </p:cNvSpPr>
          <p:nvPr/>
        </p:nvSpPr>
        <p:spPr>
          <a:xfrm>
            <a:off x="619125" y="4610100"/>
            <a:ext cx="5000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Uma instância do pacote</a:t>
            </a:r>
          </a:p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em execução.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02BFA03-4181-49BA-A3C0-5ADE09924FB2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D2874F5-8831-4313-B2EC-2CEDC2926442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6D7B8B6-2B90-4E7E-8CAC-88523574DC82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EMPACOTAMENTO E EXECUÇÃO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  <p:pic>
        <p:nvPicPr>
          <p:cNvPr id="2050" name="Picture 2" descr="Getting started with Docker">
            <a:extLst>
              <a:ext uri="{FF2B5EF4-FFF2-40B4-BE49-F238E27FC236}">
                <a16:creationId xmlns:a16="http://schemas.microsoft.com/office/drawing/2014/main" id="{389DEF16-9425-0E53-3C42-A623A3DB9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940" y="1595913"/>
            <a:ext cx="7086600" cy="279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71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EB470CBD-F9AA-4C7D-A759-A03CD5FEAB6F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DOCKERFILE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4C68036-9BA4-408A-ABDC-A975EBC4377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A receita da imagem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735922-9637-4691-BB27-3384EBAD380C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7448550" cy="272415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3C5B36-0D77-4E71-83FA-3CA57AB909B2}"/>
              </a:ext>
            </a:extLst>
          </p:cNvPr>
          <p:cNvSpPr>
            <a:spLocks noGrp="1"/>
          </p:cNvSpPr>
          <p:nvPr/>
        </p:nvSpPr>
        <p:spPr>
          <a:xfrm>
            <a:off x="809625" y="2305050"/>
            <a:ext cx="6972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RECORTE DO ARQUIVO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067E42-7B01-41AE-BAAA-6A7E7257B9EC}"/>
              </a:ext>
            </a:extLst>
          </p:cNvPr>
          <p:cNvSpPr>
            <a:spLocks noGrp="1"/>
          </p:cNvSpPr>
          <p:nvPr/>
        </p:nvSpPr>
        <p:spPr>
          <a:xfrm>
            <a:off x="809625" y="2733675"/>
            <a:ext cx="7019925" cy="3857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329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3293A"/>
                </a:solidFill>
                <a:latin typeface="Consolas"/>
                <a:ea typeface="Consolas"/>
                <a:cs typeface="Consolas"/>
              </a:rPr>
              <a:t>FROM node:24.19.0-alpine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8F3566-E8C2-42A1-B9A3-66054061876A}"/>
              </a:ext>
            </a:extLst>
          </p:cNvPr>
          <p:cNvSpPr>
            <a:spLocks noGrp="1"/>
          </p:cNvSpPr>
          <p:nvPr/>
        </p:nvSpPr>
        <p:spPr>
          <a:xfrm>
            <a:off x="809625" y="3106579"/>
            <a:ext cx="7019925" cy="3857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 npm ci --omit=dev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192290-38E0-4465-8F65-FAAED0B7463D}"/>
              </a:ext>
            </a:extLst>
          </p:cNvPr>
          <p:cNvSpPr>
            <a:spLocks noGrp="1"/>
          </p:cNvSpPr>
          <p:nvPr/>
        </p:nvSpPr>
        <p:spPr>
          <a:xfrm>
            <a:off x="809625" y="3479483"/>
            <a:ext cx="7019925" cy="3857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COPY src ./src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AE84DC2-1B2F-40B5-A391-CFAEA8E6F6F6}"/>
              </a:ext>
            </a:extLst>
          </p:cNvPr>
          <p:cNvSpPr>
            <a:spLocks noGrp="1"/>
          </p:cNvSpPr>
          <p:nvPr/>
        </p:nvSpPr>
        <p:spPr>
          <a:xfrm>
            <a:off x="809625" y="3852386"/>
            <a:ext cx="7019925" cy="3857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CMD ["npm", "start"]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6FD837-215F-4514-A64B-07B9920E64A9}"/>
              </a:ext>
            </a:extLst>
          </p:cNvPr>
          <p:cNvSpPr>
            <a:spLocks noGrp="1"/>
          </p:cNvSpPr>
          <p:nvPr/>
        </p:nvSpPr>
        <p:spPr>
          <a:xfrm>
            <a:off x="8620125" y="2714625"/>
            <a:ext cx="2905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AEEAC33-E1A1-4A5C-AC72-EA25A2B06416}"/>
              </a:ext>
            </a:extLst>
          </p:cNvPr>
          <p:cNvSpPr>
            <a:spLocks noGrp="1"/>
          </p:cNvSpPr>
          <p:nvPr/>
        </p:nvSpPr>
        <p:spPr>
          <a:xfrm>
            <a:off x="8620125" y="3086100"/>
            <a:ext cx="29432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Dependências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16E3C4-6ACD-4168-9FF2-927BD8D3C42F}"/>
              </a:ext>
            </a:extLst>
          </p:cNvPr>
          <p:cNvSpPr>
            <a:spLocks noGrp="1"/>
          </p:cNvSpPr>
          <p:nvPr/>
        </p:nvSpPr>
        <p:spPr>
          <a:xfrm>
            <a:off x="8620125" y="34575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5613F0A-3536-455D-9489-4B25086F26B2}"/>
              </a:ext>
            </a:extLst>
          </p:cNvPr>
          <p:cNvSpPr>
            <a:spLocks noGrp="1"/>
          </p:cNvSpPr>
          <p:nvPr/>
        </p:nvSpPr>
        <p:spPr>
          <a:xfrm>
            <a:off x="8620125" y="382905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Inicialização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C3D9A7E-8D04-4798-A546-F943C10A9632}"/>
              </a:ext>
            </a:extLst>
          </p:cNvPr>
          <p:cNvSpPr>
            <a:spLocks noGrp="1"/>
          </p:cNvSpPr>
          <p:nvPr/>
        </p:nvSpPr>
        <p:spPr>
          <a:xfrm>
            <a:off x="619125" y="52673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Neste projeto, o build constrói a imagem Docker.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DEC8AC8-65B4-4412-8B41-F4EBFF2AE9B8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470B332-7D61-4FE6-8595-133C91712B23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497ADB2-A0E0-483F-B7F9-10C8EEC3C0B6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JAVASCRIPT SEM COMPILAÇÃO SEPARADA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57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B0300C2-15D0-42FF-B065-363AD5634CC4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DEMONSTRAÇÃO 02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BCA21B6-6BDF-4636-B48F-74EFBC099CC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versão está rodando?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474D7A-3A75-4F13-AA96-42A1BFF2563F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11049000" cy="232410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A338C1-6E17-4B9F-9D2C-8CEB9A312D91}"/>
              </a:ext>
            </a:extLst>
          </p:cNvPr>
          <p:cNvSpPr>
            <a:spLocks noGrp="1"/>
          </p:cNvSpPr>
          <p:nvPr/>
        </p:nvSpPr>
        <p:spPr>
          <a:xfrm>
            <a:off x="809625" y="220980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POWERSHELL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05B64C9-7128-4DCC-A2EF-09FDDEC8E5CA}"/>
              </a:ext>
            </a:extLst>
          </p:cNvPr>
          <p:cNvSpPr>
            <a:spLocks noGrp="1"/>
          </p:cNvSpPr>
          <p:nvPr/>
        </p:nvSpPr>
        <p:spPr>
          <a:xfrm>
            <a:off x="809625" y="2638425"/>
            <a:ext cx="10620375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docker ps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6EFB89A-F01C-4EA1-BC6E-441870B550D9}"/>
              </a:ext>
            </a:extLst>
          </p:cNvPr>
          <p:cNvSpPr>
            <a:spLocks noGrp="1"/>
          </p:cNvSpPr>
          <p:nvPr/>
        </p:nvSpPr>
        <p:spPr>
          <a:xfrm>
            <a:off x="809625" y="3038951"/>
            <a:ext cx="10620375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docker images devops-tasks-api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0D69152-4A47-48E4-9CE7-8F9199F896F4}"/>
              </a:ext>
            </a:extLst>
          </p:cNvPr>
          <p:cNvSpPr>
            <a:spLocks noGrp="1"/>
          </p:cNvSpPr>
          <p:nvPr/>
        </p:nvSpPr>
        <p:spPr>
          <a:xfrm>
            <a:off x="809625" y="3439478"/>
            <a:ext cx="10620375" cy="4143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docker logs --tail 20 devops-tasks-api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DCBBC3-81F5-4AE8-A9D4-3F54F1CFBE7D}"/>
              </a:ext>
            </a:extLst>
          </p:cNvPr>
          <p:cNvSpPr>
            <a:spLocks noGrp="1"/>
          </p:cNvSpPr>
          <p:nvPr/>
        </p:nvSpPr>
        <p:spPr>
          <a:xfrm>
            <a:off x="600075" y="4772025"/>
            <a:ext cx="107632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Imagem</a:t>
            </a:r>
            <a:r>
              <a:rPr sz="27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identificada</a:t>
            </a:r>
            <a:r>
              <a:rPr sz="27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pelo</a:t>
            </a:r>
            <a:r>
              <a:rPr sz="27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commit.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85355B-A830-485E-9261-5B04487DB75B}"/>
              </a:ext>
            </a:extLst>
          </p:cNvPr>
          <p:cNvSpPr>
            <a:spLocks noGrp="1"/>
          </p:cNvSpPr>
          <p:nvPr/>
        </p:nvSpPr>
        <p:spPr>
          <a:xfrm>
            <a:off x="619125" y="54102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API em http://localhost:3000/health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F1BF2E3-21A5-4952-A43E-21DF311CB816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810DB3-9FA1-4A9B-A1DE-45C06EB852F2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1053AD4-FC0F-4DB6-A89F-B5846854F542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DOCKER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1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930882B-5A4B-40BD-83A8-469DD832224C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PUBLICAÇÃO CONTÍNUA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7493620-5946-4BD3-A287-39B6B8B5E7D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 dirty="0">
                <a:solidFill>
                  <a:srgbClr val="171B23"/>
                </a:solidFill>
                <a:latin typeface="Arial"/>
                <a:ea typeface="Arial"/>
                <a:cs typeface="Arial"/>
              </a:rPr>
              <a:t>CI </a:t>
            </a:r>
            <a:r>
              <a:rPr sz="3900" b="1" dirty="0" err="1">
                <a:solidFill>
                  <a:srgbClr val="171B23"/>
                </a:solidFill>
                <a:latin typeface="Arial"/>
                <a:ea typeface="Arial"/>
                <a:cs typeface="Arial"/>
              </a:rPr>
              <a:t>valida</a:t>
            </a:r>
            <a:r>
              <a:rPr sz="3900" b="1" dirty="0">
                <a:solidFill>
                  <a:srgbClr val="171B23"/>
                </a:solidFill>
                <a:latin typeface="Arial"/>
                <a:ea typeface="Arial"/>
                <a:cs typeface="Arial"/>
              </a:rPr>
              <a:t>. CD publica.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F63972E-731A-47E6-A41E-2E563BCCCE63}"/>
              </a:ext>
            </a:extLst>
          </p:cNvPr>
          <p:cNvSpPr>
            <a:spLocks noGrp="1"/>
          </p:cNvSpPr>
          <p:nvPr/>
        </p:nvSpPr>
        <p:spPr>
          <a:xfrm>
            <a:off x="581025" y="2057400"/>
            <a:ext cx="4714875" cy="1504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C90977-ACF7-4401-88D2-EFA70016B7C8}"/>
              </a:ext>
            </a:extLst>
          </p:cNvPr>
          <p:cNvSpPr>
            <a:spLocks noGrp="1"/>
          </p:cNvSpPr>
          <p:nvPr/>
        </p:nvSpPr>
        <p:spPr>
          <a:xfrm>
            <a:off x="6505575" y="2057400"/>
            <a:ext cx="4714875" cy="1504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0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CD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FA4884-5149-44FC-9398-E229CCD9F294}"/>
              </a:ext>
            </a:extLst>
          </p:cNvPr>
          <p:cNvSpPr>
            <a:spLocks noGrp="1"/>
          </p:cNvSpPr>
          <p:nvPr/>
        </p:nvSpPr>
        <p:spPr>
          <a:xfrm>
            <a:off x="619125" y="3924300"/>
            <a:ext cx="495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A alteração passou?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AB05823-FDC9-4872-86E6-1BD18552813B}"/>
              </a:ext>
            </a:extLst>
          </p:cNvPr>
          <p:cNvSpPr>
            <a:spLocks noGrp="1"/>
          </p:cNvSpPr>
          <p:nvPr/>
        </p:nvSpPr>
        <p:spPr>
          <a:xfrm>
            <a:off x="619125" y="4695825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Testes e build.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6DE8DB-2F37-4C95-B967-D0E9F68A8B77}"/>
              </a:ext>
            </a:extLst>
          </p:cNvPr>
          <p:cNvSpPr>
            <a:spLocks noGrp="1"/>
          </p:cNvSpPr>
          <p:nvPr/>
        </p:nvSpPr>
        <p:spPr>
          <a:xfrm>
            <a:off x="6543675" y="3924300"/>
            <a:ext cx="49911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A versão está no ar?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8AD5931-6477-434D-9600-AF0A5E1365F4}"/>
              </a:ext>
            </a:extLst>
          </p:cNvPr>
          <p:cNvSpPr>
            <a:spLocks noGrp="1"/>
          </p:cNvSpPr>
          <p:nvPr/>
        </p:nvSpPr>
        <p:spPr>
          <a:xfrm>
            <a:off x="6543675" y="4695825"/>
            <a:ext cx="49911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Deploy e verificação de saúde.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10BF9E-0423-444B-B160-B860B395144E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FD0B16-FB49-470F-9124-A28B27FCE18A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F65402-CCA3-4F8B-B039-D6EC3B455831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CONTINUOUS DEPLOYMENT NESTE PROJETO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31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6DF4BC9D-9415-4C21-815F-62AF500B15AA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ARQUITETURA DA PALESTRA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63D6D63-6B32-450A-BCDD-BF901B97C45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nuvem valida. Sua máquina publica.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F9072D6-BC11-4072-8BDE-C3CEE078D567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0482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E25939-8EC7-4C93-9D68-B9AD7EF32F06}"/>
              </a:ext>
            </a:extLst>
          </p:cNvPr>
          <p:cNvSpPr>
            <a:spLocks noGrp="1"/>
          </p:cNvSpPr>
          <p:nvPr/>
        </p:nvSpPr>
        <p:spPr>
          <a:xfrm>
            <a:off x="6496050" y="21145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WINDOWS LOCAL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A381BF-1C9C-4A40-8F46-A57EBCF83A3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952875" cy="1247775"/>
          </a:xfrm>
          <a:prstGeom prst="rect">
            <a:avLst/>
          </a:prstGeom>
          <a:solidFill>
            <a:srgbClr val="1C2028"/>
          </a:solidFill>
          <a:ln w="9525">
            <a:solidFill>
              <a:srgbClr val="343A47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58FAFF-14A8-49BC-9A87-3F62974E0A75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3667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 aprovado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210F032-A54B-47B3-B690-4F073C05326A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36671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testes e build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F13EA21-B76C-4B3A-BEDC-A25E0C7A1137}"/>
              </a:ext>
            </a:extLst>
          </p:cNvPr>
          <p:cNvSpPr>
            <a:spLocks noGrp="1"/>
          </p:cNvSpPr>
          <p:nvPr/>
        </p:nvSpPr>
        <p:spPr>
          <a:xfrm>
            <a:off x="4867275" y="3381375"/>
            <a:ext cx="1133475" cy="161925"/>
          </a:xfrm>
          <a:prstGeom prst="rightArrow">
            <a:avLst/>
          </a:prstGeom>
          <a:solidFill>
            <a:srgbClr val="F3293A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CA5567-1960-4330-8262-06F54DE06B67}"/>
              </a:ext>
            </a:extLst>
          </p:cNvPr>
          <p:cNvSpPr>
            <a:spLocks noGrp="1"/>
          </p:cNvSpPr>
          <p:nvPr/>
        </p:nvSpPr>
        <p:spPr>
          <a:xfrm>
            <a:off x="6505575" y="2857500"/>
            <a:ext cx="5057775" cy="1247775"/>
          </a:xfrm>
          <a:prstGeom prst="rect">
            <a:avLst/>
          </a:prstGeom>
          <a:solidFill>
            <a:srgbClr val="F3293A"/>
          </a:solidFill>
          <a:ln w="9525">
            <a:solidFill>
              <a:srgbClr val="F3293A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F7E4CED-8558-4321-B559-3F5BA3B6513A}"/>
              </a:ext>
            </a:extLst>
          </p:cNvPr>
          <p:cNvSpPr>
            <a:spLocks noGrp="1"/>
          </p:cNvSpPr>
          <p:nvPr/>
        </p:nvSpPr>
        <p:spPr>
          <a:xfrm>
            <a:off x="6657975" y="3019425"/>
            <a:ext cx="47720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Runner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6B8F4A-0C6D-4C71-8C3D-857BEEA6E875}"/>
              </a:ext>
            </a:extLst>
          </p:cNvPr>
          <p:cNvSpPr>
            <a:spLocks noGrp="1"/>
          </p:cNvSpPr>
          <p:nvPr/>
        </p:nvSpPr>
        <p:spPr>
          <a:xfrm>
            <a:off x="6657975" y="3476625"/>
            <a:ext cx="47720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recebe o job de CD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CB1B8D1-01B8-471C-8EDD-B60B8B2312A1}"/>
              </a:ext>
            </a:extLst>
          </p:cNvPr>
          <p:cNvSpPr>
            <a:spLocks noGrp="1"/>
          </p:cNvSpPr>
          <p:nvPr/>
        </p:nvSpPr>
        <p:spPr>
          <a:xfrm>
            <a:off x="6524625" y="45243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Desktop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E05B072-D427-48E4-BCDF-0E59DD719422}"/>
              </a:ext>
            </a:extLst>
          </p:cNvPr>
          <p:cNvSpPr>
            <a:spLocks noGrp="1"/>
          </p:cNvSpPr>
          <p:nvPr/>
        </p:nvSpPr>
        <p:spPr>
          <a:xfrm>
            <a:off x="6562725" y="5219700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API em localhost:3000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0D7E725-E348-4C29-B91D-DEBCE07E745A}"/>
              </a:ext>
            </a:extLst>
          </p:cNvPr>
          <p:cNvSpPr>
            <a:spLocks noGrp="1"/>
          </p:cNvSpPr>
          <p:nvPr/>
        </p:nvSpPr>
        <p:spPr>
          <a:xfrm>
            <a:off x="619125" y="4629150"/>
            <a:ext cx="46863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Commit aprovado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AD97CF6-0D66-4449-B6FB-699BE68AF8DD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B2366AA-0398-41D5-BDC3-268D2F029E85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8B347B6-7E29-4742-8992-1B809970E080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RUNNER: ETEC-FERNANDOPOLIS-LOCAL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5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6E2AC0A2-2F70-4BD7-9759-858244EECA8D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877"/>
                </a:solidFill>
                <a:latin typeface="Arial"/>
                <a:ea typeface="Arial"/>
                <a:cs typeface="Arial"/>
              </a:rPr>
              <a:t>DEPLOY LOCAL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0735BAA-5977-48FE-9EF6-221481AA8EC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A troca de versão em quatro passos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AF73FA9-30AE-4940-B4FB-30DC5A9C58A2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37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6E615F-B67B-40CF-92B3-45DF2C892C81}"/>
              </a:ext>
            </a:extLst>
          </p:cNvPr>
          <p:cNvSpPr>
            <a:spLocks noGrp="1"/>
          </p:cNvSpPr>
          <p:nvPr/>
        </p:nvSpPr>
        <p:spPr>
          <a:xfrm>
            <a:off x="590550" y="3552825"/>
            <a:ext cx="2714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DD70CA-BC5A-44A0-96A5-12884A096203}"/>
              </a:ext>
            </a:extLst>
          </p:cNvPr>
          <p:cNvSpPr>
            <a:spLocks noGrp="1"/>
          </p:cNvSpPr>
          <p:nvPr/>
        </p:nvSpPr>
        <p:spPr>
          <a:xfrm>
            <a:off x="590550" y="4410075"/>
            <a:ext cx="26955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Mesmo commit do CI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21800BE-F756-46EB-8B2D-2921259416F4}"/>
              </a:ext>
            </a:extLst>
          </p:cNvPr>
          <p:cNvSpPr>
            <a:spLocks noGrp="1"/>
          </p:cNvSpPr>
          <p:nvPr/>
        </p:nvSpPr>
        <p:spPr>
          <a:xfrm>
            <a:off x="3467100" y="221932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37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F8CE16-7F4B-437E-89E8-462AB4E54ACD}"/>
              </a:ext>
            </a:extLst>
          </p:cNvPr>
          <p:cNvSpPr>
            <a:spLocks noGrp="1"/>
          </p:cNvSpPr>
          <p:nvPr/>
        </p:nvSpPr>
        <p:spPr>
          <a:xfrm>
            <a:off x="3467100" y="3552825"/>
            <a:ext cx="2714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0D92EC7-6AFB-40F0-A08C-F97232B30A63}"/>
              </a:ext>
            </a:extLst>
          </p:cNvPr>
          <p:cNvSpPr>
            <a:spLocks noGrp="1"/>
          </p:cNvSpPr>
          <p:nvPr/>
        </p:nvSpPr>
        <p:spPr>
          <a:xfrm>
            <a:off x="3467100" y="4410075"/>
            <a:ext cx="26955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Imagem local pronta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1F60501-D52A-4728-803F-0FFA27DD2CC7}"/>
              </a:ext>
            </a:extLst>
          </p:cNvPr>
          <p:cNvSpPr>
            <a:spLocks noGrp="1"/>
          </p:cNvSpPr>
          <p:nvPr/>
        </p:nvSpPr>
        <p:spPr>
          <a:xfrm>
            <a:off x="6343650" y="221932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37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0C4E61E-266B-4C19-BD04-3D243747E86D}"/>
              </a:ext>
            </a:extLst>
          </p:cNvPr>
          <p:cNvSpPr>
            <a:spLocks noGrp="1"/>
          </p:cNvSpPr>
          <p:nvPr/>
        </p:nvSpPr>
        <p:spPr>
          <a:xfrm>
            <a:off x="6343650" y="3552825"/>
            <a:ext cx="2714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Troca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3631BDF-2F97-4CF0-808C-174568248059}"/>
              </a:ext>
            </a:extLst>
          </p:cNvPr>
          <p:cNvSpPr>
            <a:spLocks noGrp="1"/>
          </p:cNvSpPr>
          <p:nvPr/>
        </p:nvSpPr>
        <p:spPr>
          <a:xfrm>
            <a:off x="6343650" y="4410075"/>
            <a:ext cx="26955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Novo contêiner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D4E8940-C4BE-4FFD-86A9-B13521EEC190}"/>
              </a:ext>
            </a:extLst>
          </p:cNvPr>
          <p:cNvSpPr>
            <a:spLocks noGrp="1"/>
          </p:cNvSpPr>
          <p:nvPr/>
        </p:nvSpPr>
        <p:spPr>
          <a:xfrm>
            <a:off x="9220200" y="221932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37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25E3081-AC82-4EAB-B6DF-B46F6A2257F5}"/>
              </a:ext>
            </a:extLst>
          </p:cNvPr>
          <p:cNvSpPr>
            <a:spLocks noGrp="1"/>
          </p:cNvSpPr>
          <p:nvPr/>
        </p:nvSpPr>
        <p:spPr>
          <a:xfrm>
            <a:off x="9220200" y="3552825"/>
            <a:ext cx="2714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Saúde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E67F85C-6C40-4AE1-9596-F6C56109DDF3}"/>
              </a:ext>
            </a:extLst>
          </p:cNvPr>
          <p:cNvSpPr>
            <a:spLocks noGrp="1"/>
          </p:cNvSpPr>
          <p:nvPr/>
        </p:nvSpPr>
        <p:spPr>
          <a:xfrm>
            <a:off x="9220200" y="4410075"/>
            <a:ext cx="26955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/health responde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615D5EE-D002-45CC-B52A-48CFB4C478D4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4FA213D-0E56-4B55-925E-2564CCD60531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82EAD49-0A7B-4161-91B7-394860C97C2F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BUILD ANTES DE PARAR A VERSÃO ANTERIOR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72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F772F66F-B7EB-4A90-B5D3-3131CFECF7A2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DEMONSTRAÇÃO 03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589BA29-E091-4BB2-B530-F52A385FC00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provocar uma falha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303461-00D8-46FE-8426-968FBD95D9AC}"/>
              </a:ext>
            </a:extLst>
          </p:cNvPr>
          <p:cNvSpPr>
            <a:spLocks noGrp="1"/>
          </p:cNvSpPr>
          <p:nvPr/>
        </p:nvSpPr>
        <p:spPr>
          <a:xfrm>
            <a:off x="581025" y="2181225"/>
            <a:ext cx="5133975" cy="139065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0C695B-33CA-4C51-90A4-E604E7044839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46577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A9CF5C-86A5-4051-B9AE-4574BD145A04}"/>
              </a:ext>
            </a:extLst>
          </p:cNvPr>
          <p:cNvSpPr>
            <a:spLocks noGrp="1"/>
          </p:cNvSpPr>
          <p:nvPr/>
        </p:nvSpPr>
        <p:spPr>
          <a:xfrm>
            <a:off x="819150" y="2771775"/>
            <a:ext cx="4705350" cy="5000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625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status: 'ok'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A37E1BE-9314-43D1-9C49-676A06B68FE0}"/>
              </a:ext>
            </a:extLst>
          </p:cNvPr>
          <p:cNvSpPr>
            <a:spLocks noGrp="1"/>
          </p:cNvSpPr>
          <p:nvPr/>
        </p:nvSpPr>
        <p:spPr>
          <a:xfrm>
            <a:off x="6191250" y="2181225"/>
            <a:ext cx="5400675" cy="139065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706BB1F-8690-4836-88EA-E602F6285361}"/>
              </a:ext>
            </a:extLst>
          </p:cNvPr>
          <p:cNvSpPr>
            <a:spLocks noGrp="1"/>
          </p:cNvSpPr>
          <p:nvPr/>
        </p:nvSpPr>
        <p:spPr>
          <a:xfrm>
            <a:off x="6429375" y="2343150"/>
            <a:ext cx="49244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ALTERAÇÃO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E7F6C0A-03BA-478B-BE7F-49224A298B7A}"/>
              </a:ext>
            </a:extLst>
          </p:cNvPr>
          <p:cNvSpPr>
            <a:spLocks noGrp="1"/>
          </p:cNvSpPr>
          <p:nvPr/>
        </p:nvSpPr>
        <p:spPr>
          <a:xfrm>
            <a:off x="6429375" y="2771775"/>
            <a:ext cx="4972050" cy="5000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0">
                <a:solidFill>
                  <a:srgbClr val="F3293A"/>
                </a:solidFill>
                <a:latin typeface="Consolas"/>
                <a:ea typeface="Consolas"/>
                <a:cs typeface="Consolas"/>
              </a:defRPr>
            </a:pPr>
            <a:r>
              <a:rPr sz="2625" b="0">
                <a:solidFill>
                  <a:srgbClr val="F3293A"/>
                </a:solidFill>
                <a:latin typeface="Consolas"/>
                <a:ea typeface="Consolas"/>
                <a:cs typeface="Consolas"/>
              </a:rPr>
              <a:t>status: 'quebrado'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48BA4B-3DDE-4164-BF95-B3AECD47E692}"/>
              </a:ext>
            </a:extLst>
          </p:cNvPr>
          <p:cNvSpPr>
            <a:spLocks noGrp="1"/>
          </p:cNvSpPr>
          <p:nvPr/>
        </p:nvSpPr>
        <p:spPr>
          <a:xfrm>
            <a:off x="619125" y="4152900"/>
            <a:ext cx="10572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teste continua </a:t>
            </a:r>
            <a:r>
              <a:rPr sz="31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esperando</a:t>
            </a:r>
            <a:r>
              <a:rPr sz="3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“ok”.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D7FCE47-09DB-452A-90B7-D2C5431B656E}"/>
              </a:ext>
            </a:extLst>
          </p:cNvPr>
          <p:cNvSpPr>
            <a:spLocks noGrp="1"/>
          </p:cNvSpPr>
          <p:nvPr/>
        </p:nvSpPr>
        <p:spPr>
          <a:xfrm>
            <a:off x="62865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npm test  /  commit  /  push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A6BDE4E-44E0-43AB-8170-490ABD34CAE0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C5BBBD2-BEA9-49B5-B770-597EFF957F59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1521F6-FE80-4B40-A4D0-52DE092B4B80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FALHA CONTROLADA</a:t>
            </a: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4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018DD31-5249-42AE-AD2D-4CFEF34D4874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2780C54-B1ED-4718-B43D-74EE321EC17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código quebrado não entra no 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D22E11-E8CF-43DA-90FA-0D6006D14AB8}"/>
              </a:ext>
            </a:extLst>
          </p:cNvPr>
          <p:cNvSpPr>
            <a:spLocks noGrp="1"/>
          </p:cNvSpPr>
          <p:nvPr/>
        </p:nvSpPr>
        <p:spPr>
          <a:xfrm>
            <a:off x="571500" y="2257425"/>
            <a:ext cx="109537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9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CI FALHOU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6C39B3C-58DD-443B-A53A-8ACF4F7EC47F}"/>
              </a:ext>
            </a:extLst>
          </p:cNvPr>
          <p:cNvSpPr>
            <a:spLocks noGrp="1"/>
          </p:cNvSpPr>
          <p:nvPr/>
        </p:nvSpPr>
        <p:spPr>
          <a:xfrm>
            <a:off x="609600" y="34385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bloqueado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D76C4F5-8179-4F2B-8D13-16B869AAA7E6}"/>
              </a:ext>
            </a:extLst>
          </p:cNvPr>
          <p:cNvSpPr>
            <a:spLocks noGrp="1"/>
          </p:cNvSpPr>
          <p:nvPr/>
        </p:nvSpPr>
        <p:spPr>
          <a:xfrm>
            <a:off x="619125" y="44005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O contêiner mantém a versão anterior.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7DF5058-C8A7-4713-A731-83B6EF6BF21A}"/>
              </a:ext>
            </a:extLst>
          </p:cNvPr>
          <p:cNvSpPr>
            <a:spLocks noGrp="1"/>
          </p:cNvSpPr>
          <p:nvPr/>
        </p:nvSpPr>
        <p:spPr>
          <a:xfrm>
            <a:off x="619125" y="527685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58DAA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8DAA5"/>
                </a:solidFill>
                <a:latin typeface="Arial"/>
                <a:ea typeface="Arial"/>
                <a:cs typeface="Arial"/>
              </a:rPr>
              <a:t>Postman: status “ok”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F36B714-6A9F-41F9-917E-C9226E60280C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D14101D-EA47-47F9-B132-F9A705AAC73F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DD6352C-8202-4D63-88CC-45C9C9BD8BC8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ACTIONS E POSTMAN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78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6B5DB1E8-3C67-4E4A-A5C8-F205F2EDC6C8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RECUPERAÇÃO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34C7AF-0080-4C01-A68D-E22593B043C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110299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Correção, validação e publicação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778721-30F7-4C01-9E56-4868BDF655E0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11049000" cy="1257300"/>
          </a:xfrm>
          <a:prstGeom prst="rect">
            <a:avLst/>
          </a:prstGeom>
          <a:solidFill>
            <a:srgbClr val="1C20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48CDD7-9F54-4A3F-BC16-4CFE41C3F262}"/>
              </a:ext>
            </a:extLst>
          </p:cNvPr>
          <p:cNvSpPr>
            <a:spLocks noGrp="1"/>
          </p:cNvSpPr>
          <p:nvPr/>
        </p:nvSpPr>
        <p:spPr>
          <a:xfrm>
            <a:off x="809625" y="2219325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SRC/APP.JS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3159BE-C6D2-4EFF-BA82-EEF04DBF2809}"/>
              </a:ext>
            </a:extLst>
          </p:cNvPr>
          <p:cNvSpPr>
            <a:spLocks noGrp="1"/>
          </p:cNvSpPr>
          <p:nvPr/>
        </p:nvSpPr>
        <p:spPr>
          <a:xfrm>
            <a:off x="809625" y="2647950"/>
            <a:ext cx="106203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0">
                <a:solidFill>
                  <a:srgbClr val="58DAA5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58DAA5"/>
                </a:solidFill>
                <a:latin typeface="Consolas"/>
                <a:ea typeface="Consolas"/>
                <a:cs typeface="Consolas"/>
              </a:rPr>
              <a:t>status: 'ok'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3D00F2-8D76-44CA-BCC7-676C642FFC62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35528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Testar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0C92E55-AE6C-487E-8E4B-C3D617E7F6A5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npm test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AFC911E-8A8D-4D7A-963E-29421BDF1EE9}"/>
              </a:ext>
            </a:extLst>
          </p:cNvPr>
          <p:cNvSpPr>
            <a:spLocks noGrp="1"/>
          </p:cNvSpPr>
          <p:nvPr/>
        </p:nvSpPr>
        <p:spPr>
          <a:xfrm>
            <a:off x="4410075" y="3933825"/>
            <a:ext cx="35528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13DD91-6EC2-4F17-ADD0-4CAAD5D56D20}"/>
              </a:ext>
            </a:extLst>
          </p:cNvPr>
          <p:cNvSpPr>
            <a:spLocks noGrp="1"/>
          </p:cNvSpPr>
          <p:nvPr/>
        </p:nvSpPr>
        <p:spPr>
          <a:xfrm>
            <a:off x="4410075" y="4752975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commit e push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0436EF7-68F1-4611-8758-74153CF2D53B}"/>
              </a:ext>
            </a:extLst>
          </p:cNvPr>
          <p:cNvSpPr>
            <a:spLocks noGrp="1"/>
          </p:cNvSpPr>
          <p:nvPr/>
        </p:nvSpPr>
        <p:spPr>
          <a:xfrm>
            <a:off x="8210550" y="3933825"/>
            <a:ext cx="35528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9FF7638-B5AD-45FD-8F74-D3B23F7E63EC}"/>
              </a:ext>
            </a:extLst>
          </p:cNvPr>
          <p:cNvSpPr>
            <a:spLocks noGrp="1"/>
          </p:cNvSpPr>
          <p:nvPr/>
        </p:nvSpPr>
        <p:spPr>
          <a:xfrm>
            <a:off x="8210550" y="4752975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CI e CD aprovados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1D8CF73-8E6D-4C88-91D0-15C07088FD35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AA17726-4F15-4F0D-B8FA-FBA86EF5E294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CFE9BA0-68FA-46A5-B213-D83A6EEFC677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AO VIVO • NOVO COMMIT NO CONTÊINER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94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522F0AB-86BE-4014-B049-FE6C4966B3FD}"/>
              </a:ext>
            </a:extLst>
          </p:cNvPr>
          <p:cNvSpPr>
            <a:spLocks noGrp="1"/>
          </p:cNvSpPr>
          <p:nvPr/>
        </p:nvSpPr>
        <p:spPr>
          <a:xfrm>
            <a:off x="581025" y="1266825"/>
            <a:ext cx="7667625" cy="3028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alteração.</a:t>
            </a:r>
          </a:p>
          <a:p>
            <a:pPr algn="l">
              <a:defRPr sz="5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 processo</a:t>
            </a:r>
          </a:p>
          <a:p>
            <a:pPr algn="l">
              <a:defRPr sz="5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verificável.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4E72C3C-E791-4C14-ACDF-9A212A4DF4FC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63150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F329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293A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8F2D43-E764-46D2-A7D6-EE5EE525E569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C332300-D5ED-4652-815E-4D2B333FA817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0E39B20-7B63-4F2B-A2DF-09B2EBCD54A6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DO GIT AO DEPLOY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8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>
            <a:extLst>
              <a:ext uri="{FF2B5EF4-FFF2-40B4-BE49-F238E27FC236}">
                <a16:creationId xmlns:a16="http://schemas.microsoft.com/office/drawing/2014/main" id="{F50E552F-58A7-4EA6-B3F0-DDB5DA12BBB1}"/>
              </a:ext>
            </a:extLst>
          </p:cNvPr>
          <p:cNvSpPr>
            <a:spLocks noGrp="1"/>
          </p:cNvSpPr>
          <p:nvPr/>
        </p:nvSpPr>
        <p:spPr>
          <a:xfrm>
            <a:off x="571500" y="3714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3" name="Retângulo 11">
            <a:extLst>
              <a:ext uri="{FF2B5EF4-FFF2-40B4-BE49-F238E27FC236}">
                <a16:creationId xmlns:a16="http://schemas.microsoft.com/office/drawing/2014/main" id="{695C9FC6-EB94-4367-AAE9-299E8DB908CC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800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Retângulo 12">
            <a:extLst>
              <a:ext uri="{FF2B5EF4-FFF2-40B4-BE49-F238E27FC236}">
                <a16:creationId xmlns:a16="http://schemas.microsoft.com/office/drawing/2014/main" id="{DBA859B6-DCA5-47E3-B760-474080D7F303}"/>
              </a:ext>
            </a:extLst>
          </p:cNvPr>
          <p:cNvSpPr>
            <a:spLocks noGrp="1"/>
          </p:cNvSpPr>
          <p:nvPr/>
        </p:nvSpPr>
        <p:spPr>
          <a:xfrm>
            <a:off x="552450" y="62960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1B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B2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tângulo 13">
            <a:extLst>
              <a:ext uri="{FF2B5EF4-FFF2-40B4-BE49-F238E27FC236}">
                <a16:creationId xmlns:a16="http://schemas.microsoft.com/office/drawing/2014/main" id="{C47F5610-C8C7-4466-89AF-39249DC9D7AD}"/>
              </a:ext>
            </a:extLst>
          </p:cNvPr>
          <p:cNvSpPr>
            <a:spLocks noGrp="1"/>
          </p:cNvSpPr>
          <p:nvPr/>
        </p:nvSpPr>
        <p:spPr>
          <a:xfrm>
            <a:off x="1190625" y="630555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68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877"/>
                </a:solidFill>
                <a:latin typeface="Arial"/>
                <a:ea typeface="Arial"/>
                <a:cs typeface="Arial"/>
              </a:rPr>
              <a:t>AUTOMAÇÃO EM ETAPAS</a:t>
            </a:r>
          </a:p>
        </p:txBody>
      </p:sp>
      <p:pic>
        <p:nvPicPr>
          <p:cNvPr id="6" name="Imagem 29"/>
          <p:cNvPicPr>
            <a:picLocks noChangeAspect="1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10096500" y="6124575"/>
            <a:ext cx="1581150" cy="63246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a16:creationId xmlns:a16="http://schemas.microsoft.com/office/drawing/2014/main" id="{7049E2D9-A2CF-4F84-8F58-26FF0F19F3EF}"/>
              </a:ext>
            </a:extLst>
          </p:cNvPr>
          <p:cNvSpPr>
            <a:spLocks noGrp="1"/>
          </p:cNvSpPr>
          <p:nvPr/>
        </p:nvSpPr>
        <p:spPr>
          <a:xfrm>
            <a:off x="647700" y="942975"/>
            <a:ext cx="109537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é uma pipeline?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3209914-4635-4B14-B728-ADA17100F0B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sequência de etapas automáticas que</a:t>
            </a:r>
          </a:p>
          <a:p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 e verifica o código.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B18C387-E3A7-41D8-A08D-479D43D2F8E2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204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Um evento, como um push, inicia a execução.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9B2A28F-7F2A-41BF-B3C3-4AE09CBB577B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B3BF"/>
                </a:solidFill>
                <a:latin typeface="Arial"/>
                <a:ea typeface="Arial"/>
                <a:cs typeface="Arial"/>
              </a:rPr>
              <a:t>EXEMPLO NESTE PROJETO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A45600C-8DEA-4464-8A55-D34151974CF8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8DA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8DAA5"/>
                </a:solidFill>
                <a:latin typeface="Arial"/>
                <a:ea typeface="Arial"/>
                <a:cs typeface="Arial"/>
              </a:rPr>
              <a:t>1. Instalar dependências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1469275-DF38-4DC9-A2AA-0395BF798986}"/>
              </a:ext>
            </a:extLst>
          </p:cNvPr>
          <p:cNvSpPr>
            <a:spLocks noGrp="1"/>
          </p:cNvSpPr>
          <p:nvPr/>
        </p:nvSpPr>
        <p:spPr>
          <a:xfrm>
            <a:off x="5095875" y="4581525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8DA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8DAA5"/>
                </a:solidFill>
                <a:latin typeface="Arial"/>
                <a:ea typeface="Arial"/>
                <a:cs typeface="Arial"/>
              </a:rPr>
              <a:t>2. Testar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4A0D93A1-C3F1-4BB2-A640-A97CF44540CD}"/>
              </a:ext>
            </a:extLst>
          </p:cNvPr>
          <p:cNvSpPr>
            <a:spLocks noGrp="1"/>
          </p:cNvSpPr>
          <p:nvPr/>
        </p:nvSpPr>
        <p:spPr>
          <a:xfrm>
            <a:off x="7810500" y="4581525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8DA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8DAA5"/>
                </a:solidFill>
                <a:latin typeface="Arial"/>
                <a:ea typeface="Arial"/>
                <a:cs typeface="Arial"/>
              </a:rPr>
              <a:t>3. Gerar imagem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8FAA91A-A860-42B7-91CD-0DC4FF1A57B8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DB3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DB3BF"/>
                </a:solidFill>
                <a:latin typeface="Arial"/>
                <a:ea typeface="Arial"/>
                <a:cs typeface="Arial"/>
              </a:rPr>
              <a:t>Se uma etapa obrigatória falha, o processo sinaliza o erro.</a:t>
            </a:r>
          </a:p>
        </p:txBody>
      </p:sp>
    </p:spTree>
    <p:extLst>
      <p:ext uri="{BB962C8B-B14F-4D97-AF65-F5344CB8AC3E}">
        <p14:creationId xmlns:p14="http://schemas.microsoft.com/office/powerpoint/2010/main" val="8350639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2716</Words>
  <Application>Microsoft Office PowerPoint</Application>
  <DocSecurity>0</DocSecurity>
  <PresentationFormat>Widescreen</PresentationFormat>
  <Paragraphs>393</Paragraphs>
  <Slides>26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IGOR COVIZZI QUEIRANTES</cp:lastModifiedBy>
  <cp:revision>5</cp:revision>
  <dcterms:created xsi:type="dcterms:W3CDTF">2026-09-12T23:44:41Z</dcterms:created>
  <dcterms:modified xsi:type="dcterms:W3CDTF">2026-09-14T13:00:23Z</dcterms:modified>
</cp:coreProperties>
</file>